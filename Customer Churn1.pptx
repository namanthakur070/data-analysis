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2" r:id="rId16"/>
    <p:sldId id="269" r:id="rId17"/>
    <p:sldId id="270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Playfair Display" panose="00000500000000000000" pitchFamily="2" charset="0"/>
      <p:regular r:id="rId28"/>
      <p:bold r:id="rId29"/>
      <p:italic r:id="rId30"/>
      <p:boldItalic r:id="rId31"/>
    </p:embeddedFont>
    <p:embeddedFont>
      <p:font typeface="Tw Cen MT" panose="020B06020201040206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908A54-FCDD-4361-8A68-2699B12FEF42}">
  <a:tblStyle styleId="{85908A54-FCDD-4361-8A68-2699B12FEF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E2FA9-7DB3-4AE0-8ABC-8137DE63BA7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61F758-39FA-42A6-9F7F-2F8EE55AE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Identify Key Churn Drivers: </a:t>
          </a:r>
          <a:r>
            <a:rPr lang="en-US"/>
            <a:t>Uncover the specific pain points—such as contract types, high monthly charges, or lack of technical support—that lead customers to leave.</a:t>
          </a:r>
        </a:p>
      </dgm:t>
    </dgm:pt>
    <dgm:pt modelId="{48069A72-2C3D-45FB-9B16-527CB9E56936}" type="parTrans" cxnId="{368EFAC1-1868-4C9C-9B46-C0FE1B598222}">
      <dgm:prSet/>
      <dgm:spPr/>
      <dgm:t>
        <a:bodyPr/>
        <a:lstStyle/>
        <a:p>
          <a:endParaRPr lang="en-US"/>
        </a:p>
      </dgm:t>
    </dgm:pt>
    <dgm:pt modelId="{9873FBEB-0829-4635-95CC-9563E7B9A7EF}" type="sibTrans" cxnId="{368EFAC1-1868-4C9C-9B46-C0FE1B598222}">
      <dgm:prSet/>
      <dgm:spPr/>
      <dgm:t>
        <a:bodyPr/>
        <a:lstStyle/>
        <a:p>
          <a:endParaRPr lang="en-US"/>
        </a:p>
      </dgm:t>
    </dgm:pt>
    <dgm:pt modelId="{C43B3ED3-C74E-469E-9625-8F6EB4F3FF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Predictive Risk Modeling: </a:t>
          </a:r>
          <a:r>
            <a:rPr lang="en-US"/>
            <a:t>Develop a machine learning framework to assign a Churn Probability Score to every customer, allowing for early intervention before a cancellation occurs.</a:t>
          </a:r>
        </a:p>
      </dgm:t>
    </dgm:pt>
    <dgm:pt modelId="{8CE9E50F-0848-41AB-830E-7A65238D11A1}" type="parTrans" cxnId="{1F1F8641-42AB-426C-944C-B5A1AEB859F1}">
      <dgm:prSet/>
      <dgm:spPr/>
      <dgm:t>
        <a:bodyPr/>
        <a:lstStyle/>
        <a:p>
          <a:endParaRPr lang="en-US"/>
        </a:p>
      </dgm:t>
    </dgm:pt>
    <dgm:pt modelId="{5F26740F-514D-4596-8660-4CDEBEB62B89}" type="sibTrans" cxnId="{1F1F8641-42AB-426C-944C-B5A1AEB859F1}">
      <dgm:prSet/>
      <dgm:spPr/>
      <dgm:t>
        <a:bodyPr/>
        <a:lstStyle/>
        <a:p>
          <a:endParaRPr lang="en-US"/>
        </a:p>
      </dgm:t>
    </dgm:pt>
    <dgm:pt modelId="{F1440514-F655-4873-A173-B4CB9230F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Data-Driven Retention: </a:t>
          </a:r>
          <a:r>
            <a:rPr lang="en-US"/>
            <a:t>Recommend targeted business strategies (e.g., loyalty incentives for high-risk segments) to improve customer lifetime value (CLV).</a:t>
          </a:r>
        </a:p>
      </dgm:t>
    </dgm:pt>
    <dgm:pt modelId="{F82874FA-09A3-4AF0-8ED3-02A31BF78C89}" type="parTrans" cxnId="{2808B2FE-5078-4270-BF0A-DAE6C28DAB36}">
      <dgm:prSet/>
      <dgm:spPr/>
      <dgm:t>
        <a:bodyPr/>
        <a:lstStyle/>
        <a:p>
          <a:endParaRPr lang="en-US"/>
        </a:p>
      </dgm:t>
    </dgm:pt>
    <dgm:pt modelId="{74B07CF1-5B3B-471C-B3A7-5974379FF544}" type="sibTrans" cxnId="{2808B2FE-5078-4270-BF0A-DAE6C28DAB36}">
      <dgm:prSet/>
      <dgm:spPr/>
      <dgm:t>
        <a:bodyPr/>
        <a:lstStyle/>
        <a:p>
          <a:endParaRPr lang="en-US"/>
        </a:p>
      </dgm:t>
    </dgm:pt>
    <dgm:pt modelId="{E6D6076C-89CF-4BD7-B4C9-318D05B6219D}" type="pres">
      <dgm:prSet presAssocID="{BF8E2FA9-7DB3-4AE0-8ABC-8137DE63BA7D}" presName="root" presStyleCnt="0">
        <dgm:presLayoutVars>
          <dgm:dir/>
          <dgm:resizeHandles val="exact"/>
        </dgm:presLayoutVars>
      </dgm:prSet>
      <dgm:spPr/>
    </dgm:pt>
    <dgm:pt modelId="{8C702174-9D3B-40B9-B4D9-D217308087F0}" type="pres">
      <dgm:prSet presAssocID="{2E61F758-39FA-42A6-9F7F-2F8EE55AE9E0}" presName="compNode" presStyleCnt="0"/>
      <dgm:spPr/>
    </dgm:pt>
    <dgm:pt modelId="{443F57DA-EE09-46BD-9743-BD5450B1BFAE}" type="pres">
      <dgm:prSet presAssocID="{2E61F758-39FA-42A6-9F7F-2F8EE55AE9E0}" presName="bgRect" presStyleLbl="bgShp" presStyleIdx="0" presStyleCnt="3"/>
      <dgm:spPr/>
    </dgm:pt>
    <dgm:pt modelId="{0B805101-0441-4F2D-905D-862CF98982FD}" type="pres">
      <dgm:prSet presAssocID="{2E61F758-39FA-42A6-9F7F-2F8EE55AE9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9D88FF8-89E5-47D2-B567-E6660300584B}" type="pres">
      <dgm:prSet presAssocID="{2E61F758-39FA-42A6-9F7F-2F8EE55AE9E0}" presName="spaceRect" presStyleCnt="0"/>
      <dgm:spPr/>
    </dgm:pt>
    <dgm:pt modelId="{949404A9-9151-45F9-9DE1-56AAB5B8219E}" type="pres">
      <dgm:prSet presAssocID="{2E61F758-39FA-42A6-9F7F-2F8EE55AE9E0}" presName="parTx" presStyleLbl="revTx" presStyleIdx="0" presStyleCnt="3">
        <dgm:presLayoutVars>
          <dgm:chMax val="0"/>
          <dgm:chPref val="0"/>
        </dgm:presLayoutVars>
      </dgm:prSet>
      <dgm:spPr/>
    </dgm:pt>
    <dgm:pt modelId="{93EC991F-AAED-4E78-B9A5-06BA0749644B}" type="pres">
      <dgm:prSet presAssocID="{9873FBEB-0829-4635-95CC-9563E7B9A7EF}" presName="sibTrans" presStyleCnt="0"/>
      <dgm:spPr/>
    </dgm:pt>
    <dgm:pt modelId="{11542B2C-A76B-45A1-BB8C-AD8F8158F58F}" type="pres">
      <dgm:prSet presAssocID="{C43B3ED3-C74E-469E-9625-8F6EB4F3FF7E}" presName="compNode" presStyleCnt="0"/>
      <dgm:spPr/>
    </dgm:pt>
    <dgm:pt modelId="{C543813B-EE39-4272-BCD9-FEBCDC5568B1}" type="pres">
      <dgm:prSet presAssocID="{C43B3ED3-C74E-469E-9625-8F6EB4F3FF7E}" presName="bgRect" presStyleLbl="bgShp" presStyleIdx="1" presStyleCnt="3"/>
      <dgm:spPr/>
    </dgm:pt>
    <dgm:pt modelId="{BDC73DA4-3382-41BC-BFC5-635B0E93514C}" type="pres">
      <dgm:prSet presAssocID="{C43B3ED3-C74E-469E-9625-8F6EB4F3FF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495B3CA-9D52-4775-A94A-1B6745EA4E25}" type="pres">
      <dgm:prSet presAssocID="{C43B3ED3-C74E-469E-9625-8F6EB4F3FF7E}" presName="spaceRect" presStyleCnt="0"/>
      <dgm:spPr/>
    </dgm:pt>
    <dgm:pt modelId="{A6FFA8EB-0E75-4CFD-B718-244CF2F11D12}" type="pres">
      <dgm:prSet presAssocID="{C43B3ED3-C74E-469E-9625-8F6EB4F3FF7E}" presName="parTx" presStyleLbl="revTx" presStyleIdx="1" presStyleCnt="3">
        <dgm:presLayoutVars>
          <dgm:chMax val="0"/>
          <dgm:chPref val="0"/>
        </dgm:presLayoutVars>
      </dgm:prSet>
      <dgm:spPr/>
    </dgm:pt>
    <dgm:pt modelId="{A162806E-92F0-4C26-88EB-6CB37A900B75}" type="pres">
      <dgm:prSet presAssocID="{5F26740F-514D-4596-8660-4CDEBEB62B89}" presName="sibTrans" presStyleCnt="0"/>
      <dgm:spPr/>
    </dgm:pt>
    <dgm:pt modelId="{3BCBC952-7AAC-41FF-80C4-C09399306864}" type="pres">
      <dgm:prSet presAssocID="{F1440514-F655-4873-A173-B4CB9230FA1F}" presName="compNode" presStyleCnt="0"/>
      <dgm:spPr/>
    </dgm:pt>
    <dgm:pt modelId="{5E5D324A-465A-48F7-928A-C03524CB2513}" type="pres">
      <dgm:prSet presAssocID="{F1440514-F655-4873-A173-B4CB9230FA1F}" presName="bgRect" presStyleLbl="bgShp" presStyleIdx="2" presStyleCnt="3"/>
      <dgm:spPr/>
    </dgm:pt>
    <dgm:pt modelId="{8C94FAAE-3D2B-40A0-9933-A8DB3CC201F2}" type="pres">
      <dgm:prSet presAssocID="{F1440514-F655-4873-A173-B4CB9230FA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52DF499-951A-4AAB-9E39-9486590D9EC5}" type="pres">
      <dgm:prSet presAssocID="{F1440514-F655-4873-A173-B4CB9230FA1F}" presName="spaceRect" presStyleCnt="0"/>
      <dgm:spPr/>
    </dgm:pt>
    <dgm:pt modelId="{AB74B358-B494-4897-8C0A-6E8C9C21D4B2}" type="pres">
      <dgm:prSet presAssocID="{F1440514-F655-4873-A173-B4CB9230FA1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78C250A-ECE2-48F6-A0CD-F419AA7AE78D}" type="presOf" srcId="{2E61F758-39FA-42A6-9F7F-2F8EE55AE9E0}" destId="{949404A9-9151-45F9-9DE1-56AAB5B8219E}" srcOrd="0" destOrd="0" presId="urn:microsoft.com/office/officeart/2018/2/layout/IconVerticalSolidList"/>
    <dgm:cxn modelId="{1F1F8641-42AB-426C-944C-B5A1AEB859F1}" srcId="{BF8E2FA9-7DB3-4AE0-8ABC-8137DE63BA7D}" destId="{C43B3ED3-C74E-469E-9625-8F6EB4F3FF7E}" srcOrd="1" destOrd="0" parTransId="{8CE9E50F-0848-41AB-830E-7A65238D11A1}" sibTransId="{5F26740F-514D-4596-8660-4CDEBEB62B89}"/>
    <dgm:cxn modelId="{E3783366-F85A-4EA7-BE29-0F267ABE6147}" type="presOf" srcId="{F1440514-F655-4873-A173-B4CB9230FA1F}" destId="{AB74B358-B494-4897-8C0A-6E8C9C21D4B2}" srcOrd="0" destOrd="0" presId="urn:microsoft.com/office/officeart/2018/2/layout/IconVerticalSolidList"/>
    <dgm:cxn modelId="{4BB008AA-1020-4FC9-99B1-BF94738F31F7}" type="presOf" srcId="{BF8E2FA9-7DB3-4AE0-8ABC-8137DE63BA7D}" destId="{E6D6076C-89CF-4BD7-B4C9-318D05B6219D}" srcOrd="0" destOrd="0" presId="urn:microsoft.com/office/officeart/2018/2/layout/IconVerticalSolidList"/>
    <dgm:cxn modelId="{368EFAC1-1868-4C9C-9B46-C0FE1B598222}" srcId="{BF8E2FA9-7DB3-4AE0-8ABC-8137DE63BA7D}" destId="{2E61F758-39FA-42A6-9F7F-2F8EE55AE9E0}" srcOrd="0" destOrd="0" parTransId="{48069A72-2C3D-45FB-9B16-527CB9E56936}" sibTransId="{9873FBEB-0829-4635-95CC-9563E7B9A7EF}"/>
    <dgm:cxn modelId="{84F84FFC-6DC8-4B7A-BA73-E1D6A0CD087A}" type="presOf" srcId="{C43B3ED3-C74E-469E-9625-8F6EB4F3FF7E}" destId="{A6FFA8EB-0E75-4CFD-B718-244CF2F11D12}" srcOrd="0" destOrd="0" presId="urn:microsoft.com/office/officeart/2018/2/layout/IconVerticalSolidList"/>
    <dgm:cxn modelId="{2808B2FE-5078-4270-BF0A-DAE6C28DAB36}" srcId="{BF8E2FA9-7DB3-4AE0-8ABC-8137DE63BA7D}" destId="{F1440514-F655-4873-A173-B4CB9230FA1F}" srcOrd="2" destOrd="0" parTransId="{F82874FA-09A3-4AF0-8ED3-02A31BF78C89}" sibTransId="{74B07CF1-5B3B-471C-B3A7-5974379FF544}"/>
    <dgm:cxn modelId="{0AFD9184-B3B1-4F5D-B808-039B2F0D1307}" type="presParOf" srcId="{E6D6076C-89CF-4BD7-B4C9-318D05B6219D}" destId="{8C702174-9D3B-40B9-B4D9-D217308087F0}" srcOrd="0" destOrd="0" presId="urn:microsoft.com/office/officeart/2018/2/layout/IconVerticalSolidList"/>
    <dgm:cxn modelId="{44038453-B91D-497F-813F-B3662B39FD66}" type="presParOf" srcId="{8C702174-9D3B-40B9-B4D9-D217308087F0}" destId="{443F57DA-EE09-46BD-9743-BD5450B1BFAE}" srcOrd="0" destOrd="0" presId="urn:microsoft.com/office/officeart/2018/2/layout/IconVerticalSolidList"/>
    <dgm:cxn modelId="{75AA0998-A8B9-4449-BF5A-B332DA3BC30A}" type="presParOf" srcId="{8C702174-9D3B-40B9-B4D9-D217308087F0}" destId="{0B805101-0441-4F2D-905D-862CF98982FD}" srcOrd="1" destOrd="0" presId="urn:microsoft.com/office/officeart/2018/2/layout/IconVerticalSolidList"/>
    <dgm:cxn modelId="{47B8D27F-BEE7-49F2-971B-2DEEA131F6E1}" type="presParOf" srcId="{8C702174-9D3B-40B9-B4D9-D217308087F0}" destId="{C9D88FF8-89E5-47D2-B567-E6660300584B}" srcOrd="2" destOrd="0" presId="urn:microsoft.com/office/officeart/2018/2/layout/IconVerticalSolidList"/>
    <dgm:cxn modelId="{E22615B3-780C-4714-ADF2-8FE5EB1654E1}" type="presParOf" srcId="{8C702174-9D3B-40B9-B4D9-D217308087F0}" destId="{949404A9-9151-45F9-9DE1-56AAB5B8219E}" srcOrd="3" destOrd="0" presId="urn:microsoft.com/office/officeart/2018/2/layout/IconVerticalSolidList"/>
    <dgm:cxn modelId="{FCC45E9C-74D6-4FDD-BBC7-91BF85FB94D5}" type="presParOf" srcId="{E6D6076C-89CF-4BD7-B4C9-318D05B6219D}" destId="{93EC991F-AAED-4E78-B9A5-06BA0749644B}" srcOrd="1" destOrd="0" presId="urn:microsoft.com/office/officeart/2018/2/layout/IconVerticalSolidList"/>
    <dgm:cxn modelId="{70C111C9-A8B7-4A57-B76E-7569999C5698}" type="presParOf" srcId="{E6D6076C-89CF-4BD7-B4C9-318D05B6219D}" destId="{11542B2C-A76B-45A1-BB8C-AD8F8158F58F}" srcOrd="2" destOrd="0" presId="urn:microsoft.com/office/officeart/2018/2/layout/IconVerticalSolidList"/>
    <dgm:cxn modelId="{A609C2A8-2018-40B0-BC69-4F69BF4CADF7}" type="presParOf" srcId="{11542B2C-A76B-45A1-BB8C-AD8F8158F58F}" destId="{C543813B-EE39-4272-BCD9-FEBCDC5568B1}" srcOrd="0" destOrd="0" presId="urn:microsoft.com/office/officeart/2018/2/layout/IconVerticalSolidList"/>
    <dgm:cxn modelId="{74E7134D-9123-4F6D-86D5-613E9912AA8A}" type="presParOf" srcId="{11542B2C-A76B-45A1-BB8C-AD8F8158F58F}" destId="{BDC73DA4-3382-41BC-BFC5-635B0E93514C}" srcOrd="1" destOrd="0" presId="urn:microsoft.com/office/officeart/2018/2/layout/IconVerticalSolidList"/>
    <dgm:cxn modelId="{19992E4A-FC2C-427B-9D11-8BD53F62F8C0}" type="presParOf" srcId="{11542B2C-A76B-45A1-BB8C-AD8F8158F58F}" destId="{9495B3CA-9D52-4775-A94A-1B6745EA4E25}" srcOrd="2" destOrd="0" presId="urn:microsoft.com/office/officeart/2018/2/layout/IconVerticalSolidList"/>
    <dgm:cxn modelId="{40AF02E3-C279-4D06-BE6B-6BC4877A8C5E}" type="presParOf" srcId="{11542B2C-A76B-45A1-BB8C-AD8F8158F58F}" destId="{A6FFA8EB-0E75-4CFD-B718-244CF2F11D12}" srcOrd="3" destOrd="0" presId="urn:microsoft.com/office/officeart/2018/2/layout/IconVerticalSolidList"/>
    <dgm:cxn modelId="{55915AC5-4F67-4F5B-85AB-DD5942B1AEA5}" type="presParOf" srcId="{E6D6076C-89CF-4BD7-B4C9-318D05B6219D}" destId="{A162806E-92F0-4C26-88EB-6CB37A900B75}" srcOrd="3" destOrd="0" presId="urn:microsoft.com/office/officeart/2018/2/layout/IconVerticalSolidList"/>
    <dgm:cxn modelId="{CBA84173-D063-4572-8FF1-8B5A97DF48C6}" type="presParOf" srcId="{E6D6076C-89CF-4BD7-B4C9-318D05B6219D}" destId="{3BCBC952-7AAC-41FF-80C4-C09399306864}" srcOrd="4" destOrd="0" presId="urn:microsoft.com/office/officeart/2018/2/layout/IconVerticalSolidList"/>
    <dgm:cxn modelId="{739A00C3-371D-435C-AC34-B9C061030D73}" type="presParOf" srcId="{3BCBC952-7AAC-41FF-80C4-C09399306864}" destId="{5E5D324A-465A-48F7-928A-C03524CB2513}" srcOrd="0" destOrd="0" presId="urn:microsoft.com/office/officeart/2018/2/layout/IconVerticalSolidList"/>
    <dgm:cxn modelId="{5EB1B69F-2FBC-4BBF-B436-5FAF503ADBDD}" type="presParOf" srcId="{3BCBC952-7AAC-41FF-80C4-C09399306864}" destId="{8C94FAAE-3D2B-40A0-9933-A8DB3CC201F2}" srcOrd="1" destOrd="0" presId="urn:microsoft.com/office/officeart/2018/2/layout/IconVerticalSolidList"/>
    <dgm:cxn modelId="{87A645F3-8DEB-43E4-8DBD-9477348C30E6}" type="presParOf" srcId="{3BCBC952-7AAC-41FF-80C4-C09399306864}" destId="{152DF499-951A-4AAB-9E39-9486590D9EC5}" srcOrd="2" destOrd="0" presId="urn:microsoft.com/office/officeart/2018/2/layout/IconVerticalSolidList"/>
    <dgm:cxn modelId="{B7385AB2-1A47-47CF-B94D-18D9217F3C35}" type="presParOf" srcId="{3BCBC952-7AAC-41FF-80C4-C09399306864}" destId="{AB74B358-B494-4897-8C0A-6E8C9C21D4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FF7852-357B-4868-97C6-7A6BC3E79DF8}" type="doc">
      <dgm:prSet loTypeId="urn:microsoft.com/office/officeart/2005/8/layout/vList5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C586A9-14EF-4A96-99EA-3B3E713E86A9}">
      <dgm:prSet/>
      <dgm:spPr/>
      <dgm:t>
        <a:bodyPr/>
        <a:lstStyle/>
        <a:p>
          <a:r>
            <a:rPr lang="en-IN" b="1"/>
            <a:t>The 6-Stage Methodology</a:t>
          </a:r>
          <a:endParaRPr lang="en-US"/>
        </a:p>
      </dgm:t>
    </dgm:pt>
    <dgm:pt modelId="{29134A23-2F67-44EE-AB91-8D919E1E94EE}" type="parTrans" cxnId="{1E66B5C3-2248-435D-9F06-7AB79699BD42}">
      <dgm:prSet/>
      <dgm:spPr/>
      <dgm:t>
        <a:bodyPr/>
        <a:lstStyle/>
        <a:p>
          <a:endParaRPr lang="en-US"/>
        </a:p>
      </dgm:t>
    </dgm:pt>
    <dgm:pt modelId="{FCA825E9-B79C-4C95-A992-F52B637A30E1}" type="sibTrans" cxnId="{1E66B5C3-2248-435D-9F06-7AB79699BD42}">
      <dgm:prSet/>
      <dgm:spPr/>
      <dgm:t>
        <a:bodyPr/>
        <a:lstStyle/>
        <a:p>
          <a:endParaRPr lang="en-US"/>
        </a:p>
      </dgm:t>
    </dgm:pt>
    <dgm:pt modelId="{4A799638-B6CE-437F-96F9-18BE0A0BE404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Problem Definition: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6ACC69-2487-48EA-AE4F-D1F0FC6C08BE}" type="parTrans" cxnId="{E63365C2-9758-450D-B37F-9794AEF7AD68}">
      <dgm:prSet/>
      <dgm:spPr/>
      <dgm:t>
        <a:bodyPr/>
        <a:lstStyle/>
        <a:p>
          <a:endParaRPr lang="en-US"/>
        </a:p>
      </dgm:t>
    </dgm:pt>
    <dgm:pt modelId="{983CA65D-C41F-48EB-B087-F67E86B12AFD}" type="sibTrans" cxnId="{E63365C2-9758-450D-B37F-9794AEF7AD68}">
      <dgm:prSet/>
      <dgm:spPr/>
      <dgm:t>
        <a:bodyPr/>
        <a:lstStyle/>
        <a:p>
          <a:endParaRPr lang="en-US"/>
        </a:p>
      </dgm:t>
    </dgm:pt>
    <dgm:pt modelId="{1E6D950B-0174-4CAC-837F-BFCD795FF53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Identifying high churn (26.5%) as the primary threat to revenue.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A9322B-1412-42D1-98FE-C915B4B2E1CF}" type="parTrans" cxnId="{785A42D5-B4F3-47ED-8B59-50B787A6112F}">
      <dgm:prSet/>
      <dgm:spPr/>
      <dgm:t>
        <a:bodyPr/>
        <a:lstStyle/>
        <a:p>
          <a:endParaRPr lang="en-US"/>
        </a:p>
      </dgm:t>
    </dgm:pt>
    <dgm:pt modelId="{B36E86E6-DF78-4967-BC62-A461E9043035}" type="sibTrans" cxnId="{785A42D5-B4F3-47ED-8B59-50B787A6112F}">
      <dgm:prSet/>
      <dgm:spPr/>
      <dgm:t>
        <a:bodyPr/>
        <a:lstStyle/>
        <a:p>
          <a:endParaRPr lang="en-US"/>
        </a:p>
      </dgm:t>
    </dgm:pt>
    <dgm:pt modelId="{D82CB87C-E15A-417A-9D28-88384076826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Defining the goal: Predicting individual churn probability to enable proactive retention.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33C7A9-2C54-43EE-B75B-2DDAE52010AA}" type="parTrans" cxnId="{F7DE94A7-D10C-4760-ABD1-858075EABCDE}">
      <dgm:prSet/>
      <dgm:spPr/>
      <dgm:t>
        <a:bodyPr/>
        <a:lstStyle/>
        <a:p>
          <a:endParaRPr lang="en-US"/>
        </a:p>
      </dgm:t>
    </dgm:pt>
    <dgm:pt modelId="{C1473150-198E-4435-A2B9-6BFBE2704A7D}" type="sibTrans" cxnId="{F7DE94A7-D10C-4760-ABD1-858075EABCDE}">
      <dgm:prSet/>
      <dgm:spPr/>
      <dgm:t>
        <a:bodyPr/>
        <a:lstStyle/>
        <a:p>
          <a:endParaRPr lang="en-US"/>
        </a:p>
      </dgm:t>
    </dgm:pt>
    <dgm:pt modelId="{3A8D47C5-8562-40CF-B44A-060F8FAC2012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Data Collection: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F62FDB-615F-4EC1-A56C-CB56805FBECF}" type="parTrans" cxnId="{F1EBF334-E532-46A4-A38C-AF4D7E1DAB91}">
      <dgm:prSet/>
      <dgm:spPr/>
      <dgm:t>
        <a:bodyPr/>
        <a:lstStyle/>
        <a:p>
          <a:endParaRPr lang="en-US"/>
        </a:p>
      </dgm:t>
    </dgm:pt>
    <dgm:pt modelId="{1CE5EEC7-4324-43FD-85ED-D4CAA65D3358}" type="sibTrans" cxnId="{F1EBF334-E532-46A4-A38C-AF4D7E1DAB91}">
      <dgm:prSet/>
      <dgm:spPr/>
      <dgm:t>
        <a:bodyPr/>
        <a:lstStyle/>
        <a:p>
          <a:endParaRPr lang="en-US"/>
        </a:p>
      </dgm:t>
    </dgm:pt>
    <dgm:pt modelId="{DE3E4352-E226-4236-AD92-739F9EB7BC91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Sourcing the </a:t>
          </a: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IBM Telco "Gold Standard"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dataset.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FDC4E7-B376-4F7E-9A2E-0A1F8783D97A}" type="parTrans" cxnId="{D94B904D-1715-410E-88EC-4BFA657A6CB6}">
      <dgm:prSet/>
      <dgm:spPr/>
      <dgm:t>
        <a:bodyPr/>
        <a:lstStyle/>
        <a:p>
          <a:endParaRPr lang="en-US"/>
        </a:p>
      </dgm:t>
    </dgm:pt>
    <dgm:pt modelId="{DFD9964D-373B-4D23-86C1-DF995615A8B4}" type="sibTrans" cxnId="{D94B904D-1715-410E-88EC-4BFA657A6CB6}">
      <dgm:prSet/>
      <dgm:spPr/>
      <dgm:t>
        <a:bodyPr/>
        <a:lstStyle/>
        <a:p>
          <a:endParaRPr lang="en-US"/>
        </a:p>
      </dgm:t>
    </dgm:pt>
    <dgm:pt modelId="{6BE0FBB5-3102-4A3F-830E-57EBD54821A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>
              <a:latin typeface="Arial" panose="020B0604020202020204" pitchFamily="34" charset="0"/>
              <a:cs typeface="Arial" panose="020B0604020202020204" pitchFamily="34" charset="0"/>
            </a:rPr>
            <a:t>Integrating 21 features spanning demographics, account info, and services.</a:t>
          </a:r>
          <a:endParaRPr lang="en-US" sz="1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CDC9F5-003B-4552-AEC6-45C410685F2B}" type="parTrans" cxnId="{58667632-F2BE-401F-801E-E1AA29643549}">
      <dgm:prSet/>
      <dgm:spPr/>
      <dgm:t>
        <a:bodyPr/>
        <a:lstStyle/>
        <a:p>
          <a:endParaRPr lang="en-US"/>
        </a:p>
      </dgm:t>
    </dgm:pt>
    <dgm:pt modelId="{A6DAB43B-CADF-4EB3-B363-26B1DBF1BCA9}" type="sibTrans" cxnId="{58667632-F2BE-401F-801E-E1AA29643549}">
      <dgm:prSet/>
      <dgm:spPr/>
      <dgm:t>
        <a:bodyPr/>
        <a:lstStyle/>
        <a:p>
          <a:endParaRPr lang="en-US"/>
        </a:p>
      </dgm:t>
    </dgm:pt>
    <dgm:pt modelId="{01BB72D4-AF75-4C3B-8D6E-B01BC46A1DEB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Data Cleaning: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B6EC23-C9E4-4C25-BCC9-FBF356180D3C}" type="parTrans" cxnId="{69CF5CB6-5486-4508-AA39-F15CF10C3EA0}">
      <dgm:prSet/>
      <dgm:spPr/>
      <dgm:t>
        <a:bodyPr/>
        <a:lstStyle/>
        <a:p>
          <a:endParaRPr lang="en-US"/>
        </a:p>
      </dgm:t>
    </dgm:pt>
    <dgm:pt modelId="{20361BF2-A0A9-4D48-92F6-42324C876D51}" type="sibTrans" cxnId="{69CF5CB6-5486-4508-AA39-F15CF10C3EA0}">
      <dgm:prSet/>
      <dgm:spPr/>
      <dgm:t>
        <a:bodyPr/>
        <a:lstStyle/>
        <a:p>
          <a:endParaRPr lang="en-US"/>
        </a:p>
      </dgm:t>
    </dgm:pt>
    <dgm:pt modelId="{41D961B0-DCDD-42C9-B578-7D85E4215E6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The Critical Fix: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Converting Total Charges from string to numeric.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9055E8-2D6C-44EB-85EE-8488BA21DFE4}" type="parTrans" cxnId="{AEF0C0C2-E288-484E-9977-B57AFA7E8DFE}">
      <dgm:prSet/>
      <dgm:spPr/>
      <dgm:t>
        <a:bodyPr/>
        <a:lstStyle/>
        <a:p>
          <a:endParaRPr lang="en-US"/>
        </a:p>
      </dgm:t>
    </dgm:pt>
    <dgm:pt modelId="{87F4DDAB-B0AC-46F7-A213-CAAF100C3CF8}" type="sibTrans" cxnId="{AEF0C0C2-E288-484E-9977-B57AFA7E8DFE}">
      <dgm:prSet/>
      <dgm:spPr/>
      <dgm:t>
        <a:bodyPr/>
        <a:lstStyle/>
        <a:p>
          <a:endParaRPr lang="en-US"/>
        </a:p>
      </dgm:t>
    </dgm:pt>
    <dgm:pt modelId="{E1586ABA-26A3-44DE-950A-04B6F6CEBED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>
              <a:latin typeface="Arial" panose="020B0604020202020204" pitchFamily="34" charset="0"/>
              <a:cs typeface="Arial" panose="020B0604020202020204" pitchFamily="34" charset="0"/>
            </a:rPr>
            <a:t>Handling null values (11 rows) and encoding categorical text (e.g., "Yes/No" to 1/0).</a:t>
          </a:r>
          <a:endParaRPr lang="en-US" sz="13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949611-D8E3-4629-B314-A5BD5AA7F2C2}" type="parTrans" cxnId="{83BB6FF3-BC30-4EFD-9410-624772268D18}">
      <dgm:prSet/>
      <dgm:spPr/>
      <dgm:t>
        <a:bodyPr/>
        <a:lstStyle/>
        <a:p>
          <a:endParaRPr lang="en-US"/>
        </a:p>
      </dgm:t>
    </dgm:pt>
    <dgm:pt modelId="{4BD52564-D1D5-41BA-A17E-6846FFFBFCD1}" type="sibTrans" cxnId="{83BB6FF3-BC30-4EFD-9410-624772268D18}">
      <dgm:prSet/>
      <dgm:spPr/>
      <dgm:t>
        <a:bodyPr/>
        <a:lstStyle/>
        <a:p>
          <a:endParaRPr lang="en-US"/>
        </a:p>
      </dgm:t>
    </dgm:pt>
    <dgm:pt modelId="{E461B4C1-5471-424D-825A-96B07F14FCE5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Exploratory Data Analysis (EDA):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BDC1BA-D42E-47CB-846B-578827B67E6B}" type="parTrans" cxnId="{BE432048-8D1A-4816-9E50-29022E165BD0}">
      <dgm:prSet/>
      <dgm:spPr/>
      <dgm:t>
        <a:bodyPr/>
        <a:lstStyle/>
        <a:p>
          <a:endParaRPr lang="en-US"/>
        </a:p>
      </dgm:t>
    </dgm:pt>
    <dgm:pt modelId="{55E745B5-B2ED-45EA-8228-52EFEFAED294}" type="sibTrans" cxnId="{BE432048-8D1A-4816-9E50-29022E165BD0}">
      <dgm:prSet/>
      <dgm:spPr/>
      <dgm:t>
        <a:bodyPr/>
        <a:lstStyle/>
        <a:p>
          <a:endParaRPr lang="en-US"/>
        </a:p>
      </dgm:t>
    </dgm:pt>
    <dgm:pt modelId="{A98092F1-C321-4FA7-8B7F-BF93CE96B49D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Univariate: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Analysing the distribution of tenure and monthly charges.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802B11-EADD-4076-A24D-42F978A7266C}" type="parTrans" cxnId="{6A4BED12-75B0-4657-BA6B-059FC2F52836}">
      <dgm:prSet/>
      <dgm:spPr/>
      <dgm:t>
        <a:bodyPr/>
        <a:lstStyle/>
        <a:p>
          <a:endParaRPr lang="en-US"/>
        </a:p>
      </dgm:t>
    </dgm:pt>
    <dgm:pt modelId="{C81457D7-8D9A-4930-802B-BBC8C5009B75}" type="sibTrans" cxnId="{6A4BED12-75B0-4657-BA6B-059FC2F52836}">
      <dgm:prSet/>
      <dgm:spPr/>
      <dgm:t>
        <a:bodyPr/>
        <a:lstStyle/>
        <a:p>
          <a:endParaRPr lang="en-US"/>
        </a:p>
      </dgm:t>
    </dgm:pt>
    <dgm:pt modelId="{7E2E640F-FF30-4252-93C9-C57A47AB87B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Bivariate: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Comparing Churn vs. Contract Type (Month-to-Month is the highest risk).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F57C24-D5E3-458E-8869-B70EF7701EB0}" type="parTrans" cxnId="{51C2C4F6-11BD-4D83-B380-8E0AE8972D0B}">
      <dgm:prSet/>
      <dgm:spPr/>
      <dgm:t>
        <a:bodyPr/>
        <a:lstStyle/>
        <a:p>
          <a:endParaRPr lang="en-US"/>
        </a:p>
      </dgm:t>
    </dgm:pt>
    <dgm:pt modelId="{A4AEC44F-5996-4DD4-94CA-D05A59404E4C}" type="sibTrans" cxnId="{51C2C4F6-11BD-4D83-B380-8E0AE8972D0B}">
      <dgm:prSet/>
      <dgm:spPr/>
      <dgm:t>
        <a:bodyPr/>
        <a:lstStyle/>
        <a:p>
          <a:endParaRPr lang="en-US"/>
        </a:p>
      </dgm:t>
    </dgm:pt>
    <dgm:pt modelId="{703150C6-E546-411C-8D05-D0C16EBC1C6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Correlation: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Mapping the relationship between service types and attrition.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296BB3-E2E9-4BF2-AC6A-C3E34A9F0D6D}" type="parTrans" cxnId="{27ADC888-3570-46D6-8671-E15F2020F643}">
      <dgm:prSet/>
      <dgm:spPr/>
      <dgm:t>
        <a:bodyPr/>
        <a:lstStyle/>
        <a:p>
          <a:endParaRPr lang="en-US"/>
        </a:p>
      </dgm:t>
    </dgm:pt>
    <dgm:pt modelId="{73D6B328-CCC1-4520-A4D8-6BBDCEEE782D}" type="sibTrans" cxnId="{27ADC888-3570-46D6-8671-E15F2020F643}">
      <dgm:prSet/>
      <dgm:spPr/>
      <dgm:t>
        <a:bodyPr/>
        <a:lstStyle/>
        <a:p>
          <a:endParaRPr lang="en-US"/>
        </a:p>
      </dgm:t>
    </dgm:pt>
    <dgm:pt modelId="{4DF3D327-3D67-4F4C-AD4A-EE809C33219F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Modelling: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76B37F-78DF-44B1-8E98-4CD934C99E44}" type="parTrans" cxnId="{6787B873-C2D0-4E7C-A9F1-0C5499BBFBA0}">
      <dgm:prSet/>
      <dgm:spPr/>
      <dgm:t>
        <a:bodyPr/>
        <a:lstStyle/>
        <a:p>
          <a:endParaRPr lang="en-US"/>
        </a:p>
      </dgm:t>
    </dgm:pt>
    <dgm:pt modelId="{5930406E-E6D7-494A-8FF2-255E56A86FC1}" type="sibTrans" cxnId="{6787B873-C2D0-4E7C-A9F1-0C5499BBFBA0}">
      <dgm:prSet/>
      <dgm:spPr/>
      <dgm:t>
        <a:bodyPr/>
        <a:lstStyle/>
        <a:p>
          <a:endParaRPr lang="en-US"/>
        </a:p>
      </dgm:t>
    </dgm:pt>
    <dgm:pt modelId="{DF5D7D14-2AA6-41D6-B72F-95B3184AC0B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Splitting data into training/testing sets.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3E1B67-75D3-4A35-930A-B4393FFA428A}" type="parTrans" cxnId="{5728C50C-C294-4BF2-8C34-AA1E1C6C6B27}">
      <dgm:prSet/>
      <dgm:spPr/>
      <dgm:t>
        <a:bodyPr/>
        <a:lstStyle/>
        <a:p>
          <a:endParaRPr lang="en-US"/>
        </a:p>
      </dgm:t>
    </dgm:pt>
    <dgm:pt modelId="{65580689-AF43-4612-84E6-B6314245EDE5}" type="sibTrans" cxnId="{5728C50C-C294-4BF2-8C34-AA1E1C6C6B27}">
      <dgm:prSet/>
      <dgm:spPr/>
      <dgm:t>
        <a:bodyPr/>
        <a:lstStyle/>
        <a:p>
          <a:endParaRPr lang="en-US"/>
        </a:p>
      </dgm:t>
    </dgm:pt>
    <dgm:pt modelId="{4EF4A459-2503-4331-B123-E59A5AE1AA1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Applying algorithms (e.g., Logistic Regression or Random Forest) to predict the Churn flag.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176485-B491-46C7-9BEE-770D7E71D218}" type="parTrans" cxnId="{BE7C81E0-C6B2-465F-A820-945A7979314A}">
      <dgm:prSet/>
      <dgm:spPr/>
      <dgm:t>
        <a:bodyPr/>
        <a:lstStyle/>
        <a:p>
          <a:endParaRPr lang="en-US"/>
        </a:p>
      </dgm:t>
    </dgm:pt>
    <dgm:pt modelId="{442163E4-E608-42E8-998B-C7BD8AA4BEE1}" type="sibTrans" cxnId="{BE7C81E0-C6B2-465F-A820-945A7979314A}">
      <dgm:prSet/>
      <dgm:spPr/>
      <dgm:t>
        <a:bodyPr/>
        <a:lstStyle/>
        <a:p>
          <a:endParaRPr lang="en-US"/>
        </a:p>
      </dgm:t>
    </dgm:pt>
    <dgm:pt modelId="{C6894FB9-0257-4294-91CB-DE916E1DE890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Insights &amp; Decision: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EC4C1B-EFAB-4F76-A1B3-A50424A766DB}" type="parTrans" cxnId="{F4DF6AF0-E670-41BE-B3A8-1923CC025A9C}">
      <dgm:prSet/>
      <dgm:spPr/>
      <dgm:t>
        <a:bodyPr/>
        <a:lstStyle/>
        <a:p>
          <a:endParaRPr lang="en-US"/>
        </a:p>
      </dgm:t>
    </dgm:pt>
    <dgm:pt modelId="{A2A36773-8BE1-44EB-A058-0351C5751A4F}" type="sibTrans" cxnId="{F4DF6AF0-E670-41BE-B3A8-1923CC025A9C}">
      <dgm:prSet/>
      <dgm:spPr/>
      <dgm:t>
        <a:bodyPr/>
        <a:lstStyle/>
        <a:p>
          <a:endParaRPr lang="en-US"/>
        </a:p>
      </dgm:t>
    </dgm:pt>
    <dgm:pt modelId="{162408B3-13CF-4388-8BF1-7B438963357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Translating model coefficients into business strategy.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2DB235-7D89-4A0A-803F-FBE784253AFB}" type="parTrans" cxnId="{038A9783-49C6-48A3-A4E9-0D45656A4567}">
      <dgm:prSet/>
      <dgm:spPr/>
      <dgm:t>
        <a:bodyPr/>
        <a:lstStyle/>
        <a:p>
          <a:endParaRPr lang="en-US"/>
        </a:p>
      </dgm:t>
    </dgm:pt>
    <dgm:pt modelId="{D69EEF82-6715-47F1-8389-5F1E33D211C4}" type="sibTrans" cxnId="{038A9783-49C6-48A3-A4E9-0D45656A4567}">
      <dgm:prSet/>
      <dgm:spPr/>
      <dgm:t>
        <a:bodyPr/>
        <a:lstStyle/>
        <a:p>
          <a:endParaRPr lang="en-US"/>
        </a:p>
      </dgm:t>
    </dgm:pt>
    <dgm:pt modelId="{83EBBFAA-CCDF-4C74-AB0F-F1BA034A9911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IN" sz="1300" b="1" dirty="0">
              <a:latin typeface="Arial" panose="020B0604020202020204" pitchFamily="34" charset="0"/>
              <a:cs typeface="Arial" panose="020B0604020202020204" pitchFamily="34" charset="0"/>
            </a:rPr>
            <a:t>Decision:</a:t>
          </a:r>
          <a:r>
            <a:rPr lang="en-IN" sz="1300" dirty="0">
              <a:latin typeface="Arial" panose="020B0604020202020204" pitchFamily="34" charset="0"/>
              <a:cs typeface="Arial" panose="020B0604020202020204" pitchFamily="34" charset="0"/>
            </a:rPr>
            <a:t> Recommending "Contract Upgrades" and "Tech Support Bundles" for high-risk Fiber Optic users.</a:t>
          </a:r>
          <a:endParaRPr lang="en-US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FA0E7C-DB30-4C10-B26E-6C49CA52E208}" type="parTrans" cxnId="{45029A81-6A2D-4359-A38E-3043FF116F5A}">
      <dgm:prSet/>
      <dgm:spPr/>
      <dgm:t>
        <a:bodyPr/>
        <a:lstStyle/>
        <a:p>
          <a:endParaRPr lang="en-US"/>
        </a:p>
      </dgm:t>
    </dgm:pt>
    <dgm:pt modelId="{8E0BF125-2E22-467E-B857-16A1DBEA128E}" type="sibTrans" cxnId="{45029A81-6A2D-4359-A38E-3043FF116F5A}">
      <dgm:prSet/>
      <dgm:spPr/>
      <dgm:t>
        <a:bodyPr/>
        <a:lstStyle/>
        <a:p>
          <a:endParaRPr lang="en-US"/>
        </a:p>
      </dgm:t>
    </dgm:pt>
    <dgm:pt modelId="{551E0E6B-4B82-46B3-90D6-9AE30326A84C}" type="pres">
      <dgm:prSet presAssocID="{8CFF7852-357B-4868-97C6-7A6BC3E79DF8}" presName="Name0" presStyleCnt="0">
        <dgm:presLayoutVars>
          <dgm:dir/>
          <dgm:animLvl val="lvl"/>
          <dgm:resizeHandles val="exact"/>
        </dgm:presLayoutVars>
      </dgm:prSet>
      <dgm:spPr/>
    </dgm:pt>
    <dgm:pt modelId="{37933876-3FA6-4A53-8C77-58308C61AAFB}" type="pres">
      <dgm:prSet presAssocID="{EBC586A9-14EF-4A96-99EA-3B3E713E86A9}" presName="linNode" presStyleCnt="0"/>
      <dgm:spPr/>
    </dgm:pt>
    <dgm:pt modelId="{B8476B79-385C-4FFC-BF50-D6C3FEFF526D}" type="pres">
      <dgm:prSet presAssocID="{EBC586A9-14EF-4A96-99EA-3B3E713E86A9}" presName="parentText" presStyleLbl="node1" presStyleIdx="0" presStyleCnt="1" custScaleX="101338" custScaleY="100098" custLinFactNeighborX="-154" custLinFactNeighborY="-49">
        <dgm:presLayoutVars>
          <dgm:chMax val="1"/>
          <dgm:bulletEnabled val="1"/>
        </dgm:presLayoutVars>
      </dgm:prSet>
      <dgm:spPr/>
    </dgm:pt>
    <dgm:pt modelId="{9988F6AA-9D1E-4D56-B548-75349B7EDBB7}" type="pres">
      <dgm:prSet presAssocID="{EBC586A9-14EF-4A96-99EA-3B3E713E86A9}" presName="descendantText" presStyleLbl="alignAccFollowNode1" presStyleIdx="0" presStyleCnt="1" custScaleY="121226">
        <dgm:presLayoutVars>
          <dgm:bulletEnabled val="1"/>
        </dgm:presLayoutVars>
      </dgm:prSet>
      <dgm:spPr/>
    </dgm:pt>
  </dgm:ptLst>
  <dgm:cxnLst>
    <dgm:cxn modelId="{92FC8506-370D-4C1A-AAE3-7C716BBC2998}" type="presOf" srcId="{83EBBFAA-CCDF-4C74-AB0F-F1BA034A9911}" destId="{9988F6AA-9D1E-4D56-B548-75349B7EDBB7}" srcOrd="0" destOrd="18" presId="urn:microsoft.com/office/officeart/2005/8/layout/vList5"/>
    <dgm:cxn modelId="{5728C50C-C294-4BF2-8C34-AA1E1C6C6B27}" srcId="{4DF3D327-3D67-4F4C-AD4A-EE809C33219F}" destId="{DF5D7D14-2AA6-41D6-B72F-95B3184AC0B2}" srcOrd="0" destOrd="0" parTransId="{BD3E1B67-75D3-4A35-930A-B4393FFA428A}" sibTransId="{65580689-AF43-4612-84E6-B6314245EDE5}"/>
    <dgm:cxn modelId="{03FE4A12-B304-4FBC-A432-6113AD140D63}" type="presOf" srcId="{7E2E640F-FF30-4252-93C9-C57A47AB87B8}" destId="{9988F6AA-9D1E-4D56-B548-75349B7EDBB7}" srcOrd="0" destOrd="11" presId="urn:microsoft.com/office/officeart/2005/8/layout/vList5"/>
    <dgm:cxn modelId="{6A4BED12-75B0-4657-BA6B-059FC2F52836}" srcId="{E461B4C1-5471-424D-825A-96B07F14FCE5}" destId="{A98092F1-C321-4FA7-8B7F-BF93CE96B49D}" srcOrd="0" destOrd="0" parTransId="{7C802B11-EADD-4076-A24D-42F978A7266C}" sibTransId="{C81457D7-8D9A-4930-802B-BBC8C5009B75}"/>
    <dgm:cxn modelId="{5D873B17-3828-4BA6-B8E6-F3069C29595E}" type="presOf" srcId="{4EF4A459-2503-4331-B123-E59A5AE1AA1A}" destId="{9988F6AA-9D1E-4D56-B548-75349B7EDBB7}" srcOrd="0" destOrd="15" presId="urn:microsoft.com/office/officeart/2005/8/layout/vList5"/>
    <dgm:cxn modelId="{4DB5041D-0F53-403E-A3E7-AA006E948483}" type="presOf" srcId="{EBC586A9-14EF-4A96-99EA-3B3E713E86A9}" destId="{B8476B79-385C-4FFC-BF50-D6C3FEFF526D}" srcOrd="0" destOrd="0" presId="urn:microsoft.com/office/officeart/2005/8/layout/vList5"/>
    <dgm:cxn modelId="{F0915A1D-BF8E-4787-A81A-D00C23C2C5A1}" type="presOf" srcId="{E1586ABA-26A3-44DE-950A-04B6F6CEBEDA}" destId="{9988F6AA-9D1E-4D56-B548-75349B7EDBB7}" srcOrd="0" destOrd="8" presId="urn:microsoft.com/office/officeart/2005/8/layout/vList5"/>
    <dgm:cxn modelId="{CC630B29-51DF-471F-AB4D-417D99CE7A01}" type="presOf" srcId="{A98092F1-C321-4FA7-8B7F-BF93CE96B49D}" destId="{9988F6AA-9D1E-4D56-B548-75349B7EDBB7}" srcOrd="0" destOrd="10" presId="urn:microsoft.com/office/officeart/2005/8/layout/vList5"/>
    <dgm:cxn modelId="{B20F872B-67D1-478B-B5ED-7A1258EDF2C6}" type="presOf" srcId="{C6894FB9-0257-4294-91CB-DE916E1DE890}" destId="{9988F6AA-9D1E-4D56-B548-75349B7EDBB7}" srcOrd="0" destOrd="16" presId="urn:microsoft.com/office/officeart/2005/8/layout/vList5"/>
    <dgm:cxn modelId="{27003230-899D-4E32-8446-D8F5DBBA489C}" type="presOf" srcId="{4DF3D327-3D67-4F4C-AD4A-EE809C33219F}" destId="{9988F6AA-9D1E-4D56-B548-75349B7EDBB7}" srcOrd="0" destOrd="13" presId="urn:microsoft.com/office/officeart/2005/8/layout/vList5"/>
    <dgm:cxn modelId="{58667632-F2BE-401F-801E-E1AA29643549}" srcId="{3A8D47C5-8562-40CF-B44A-060F8FAC2012}" destId="{6BE0FBB5-3102-4A3F-830E-57EBD54821AA}" srcOrd="1" destOrd="0" parTransId="{CFCDC9F5-003B-4552-AEC6-45C410685F2B}" sibTransId="{A6DAB43B-CADF-4EB3-B363-26B1DBF1BCA9}"/>
    <dgm:cxn modelId="{F1EBF334-E532-46A4-A38C-AF4D7E1DAB91}" srcId="{EBC586A9-14EF-4A96-99EA-3B3E713E86A9}" destId="{3A8D47C5-8562-40CF-B44A-060F8FAC2012}" srcOrd="1" destOrd="0" parTransId="{62F62FDB-615F-4EC1-A56C-CB56805FBECF}" sibTransId="{1CE5EEC7-4324-43FD-85ED-D4CAA65D3358}"/>
    <dgm:cxn modelId="{2AEEEC36-5872-49E6-A0E0-BDD754B50992}" type="presOf" srcId="{D82CB87C-E15A-417A-9D28-883840768265}" destId="{9988F6AA-9D1E-4D56-B548-75349B7EDBB7}" srcOrd="0" destOrd="2" presId="urn:microsoft.com/office/officeart/2005/8/layout/vList5"/>
    <dgm:cxn modelId="{A55CFF5E-3E8D-4405-A9E0-83653732A9A0}" type="presOf" srcId="{DE3E4352-E226-4236-AD92-739F9EB7BC91}" destId="{9988F6AA-9D1E-4D56-B548-75349B7EDBB7}" srcOrd="0" destOrd="4" presId="urn:microsoft.com/office/officeart/2005/8/layout/vList5"/>
    <dgm:cxn modelId="{BE432048-8D1A-4816-9E50-29022E165BD0}" srcId="{EBC586A9-14EF-4A96-99EA-3B3E713E86A9}" destId="{E461B4C1-5471-424D-825A-96B07F14FCE5}" srcOrd="3" destOrd="0" parTransId="{EDBDC1BA-D42E-47CB-846B-578827B67E6B}" sibTransId="{55E745B5-B2ED-45EA-8228-52EFEFAED294}"/>
    <dgm:cxn modelId="{937B2968-89DA-4D21-8B50-5807ABF393F0}" type="presOf" srcId="{4A799638-B6CE-437F-96F9-18BE0A0BE404}" destId="{9988F6AA-9D1E-4D56-B548-75349B7EDBB7}" srcOrd="0" destOrd="0" presId="urn:microsoft.com/office/officeart/2005/8/layout/vList5"/>
    <dgm:cxn modelId="{D94B904D-1715-410E-88EC-4BFA657A6CB6}" srcId="{3A8D47C5-8562-40CF-B44A-060F8FAC2012}" destId="{DE3E4352-E226-4236-AD92-739F9EB7BC91}" srcOrd="0" destOrd="0" parTransId="{C0FDC4E7-B376-4F7E-9A2E-0A1F8783D97A}" sibTransId="{DFD9964D-373B-4D23-86C1-DF995615A8B4}"/>
    <dgm:cxn modelId="{6787B873-C2D0-4E7C-A9F1-0C5499BBFBA0}" srcId="{EBC586A9-14EF-4A96-99EA-3B3E713E86A9}" destId="{4DF3D327-3D67-4F4C-AD4A-EE809C33219F}" srcOrd="4" destOrd="0" parTransId="{5E76B37F-78DF-44B1-8E98-4CD934C99E44}" sibTransId="{5930406E-E6D7-494A-8FF2-255E56A86FC1}"/>
    <dgm:cxn modelId="{49E3687E-BD2F-4906-A2C5-35F28695CCE1}" type="presOf" srcId="{162408B3-13CF-4388-8BF1-7B438963357B}" destId="{9988F6AA-9D1E-4D56-B548-75349B7EDBB7}" srcOrd="0" destOrd="17" presId="urn:microsoft.com/office/officeart/2005/8/layout/vList5"/>
    <dgm:cxn modelId="{45029A81-6A2D-4359-A38E-3043FF116F5A}" srcId="{C6894FB9-0257-4294-91CB-DE916E1DE890}" destId="{83EBBFAA-CCDF-4C74-AB0F-F1BA034A9911}" srcOrd="1" destOrd="0" parTransId="{BDFA0E7C-DB30-4C10-B26E-6C49CA52E208}" sibTransId="{8E0BF125-2E22-467E-B857-16A1DBEA128E}"/>
    <dgm:cxn modelId="{038A9783-49C6-48A3-A4E9-0D45656A4567}" srcId="{C6894FB9-0257-4294-91CB-DE916E1DE890}" destId="{162408B3-13CF-4388-8BF1-7B438963357B}" srcOrd="0" destOrd="0" parTransId="{422DB235-7D89-4A0A-803F-FBE784253AFB}" sibTransId="{D69EEF82-6715-47F1-8389-5F1E33D211C4}"/>
    <dgm:cxn modelId="{2922ED85-C10F-4DAC-84D5-938445336D18}" type="presOf" srcId="{1E6D950B-0174-4CAC-837F-BFCD795FF538}" destId="{9988F6AA-9D1E-4D56-B548-75349B7EDBB7}" srcOrd="0" destOrd="1" presId="urn:microsoft.com/office/officeart/2005/8/layout/vList5"/>
    <dgm:cxn modelId="{27ADC888-3570-46D6-8671-E15F2020F643}" srcId="{E461B4C1-5471-424D-825A-96B07F14FCE5}" destId="{703150C6-E546-411C-8D05-D0C16EBC1C65}" srcOrd="2" destOrd="0" parTransId="{7C296BB3-E2E9-4BF2-AC6A-C3E34A9F0D6D}" sibTransId="{73D6B328-CCC1-4520-A4D8-6BBDCEEE782D}"/>
    <dgm:cxn modelId="{E1BFAA91-D65F-4AD3-A95A-62F99EFF1B3D}" type="presOf" srcId="{41D961B0-DCDD-42C9-B578-7D85E4215E62}" destId="{9988F6AA-9D1E-4D56-B548-75349B7EDBB7}" srcOrd="0" destOrd="7" presId="urn:microsoft.com/office/officeart/2005/8/layout/vList5"/>
    <dgm:cxn modelId="{EE1B68A7-EAC8-44D3-9927-1DAE817D360F}" type="presOf" srcId="{703150C6-E546-411C-8D05-D0C16EBC1C65}" destId="{9988F6AA-9D1E-4D56-B548-75349B7EDBB7}" srcOrd="0" destOrd="12" presId="urn:microsoft.com/office/officeart/2005/8/layout/vList5"/>
    <dgm:cxn modelId="{F7DE94A7-D10C-4760-ABD1-858075EABCDE}" srcId="{4A799638-B6CE-437F-96F9-18BE0A0BE404}" destId="{D82CB87C-E15A-417A-9D28-883840768265}" srcOrd="1" destOrd="0" parTransId="{CB33C7A9-2C54-43EE-B75B-2DDAE52010AA}" sibTransId="{C1473150-198E-4435-A2B9-6BFBE2704A7D}"/>
    <dgm:cxn modelId="{7E92EAA9-C8F3-428C-B86D-183AED1A7CBF}" type="presOf" srcId="{8CFF7852-357B-4868-97C6-7A6BC3E79DF8}" destId="{551E0E6B-4B82-46B3-90D6-9AE30326A84C}" srcOrd="0" destOrd="0" presId="urn:microsoft.com/office/officeart/2005/8/layout/vList5"/>
    <dgm:cxn modelId="{97D921AC-ADD1-4516-83B3-DEDE789EBE7D}" type="presOf" srcId="{DF5D7D14-2AA6-41D6-B72F-95B3184AC0B2}" destId="{9988F6AA-9D1E-4D56-B548-75349B7EDBB7}" srcOrd="0" destOrd="14" presId="urn:microsoft.com/office/officeart/2005/8/layout/vList5"/>
    <dgm:cxn modelId="{F151BEB0-5855-45F8-A46D-1223C474D599}" type="presOf" srcId="{3A8D47C5-8562-40CF-B44A-060F8FAC2012}" destId="{9988F6AA-9D1E-4D56-B548-75349B7EDBB7}" srcOrd="0" destOrd="3" presId="urn:microsoft.com/office/officeart/2005/8/layout/vList5"/>
    <dgm:cxn modelId="{DE73C6B0-9BEB-4C76-BFDC-6AC4CBBC7C36}" type="presOf" srcId="{E461B4C1-5471-424D-825A-96B07F14FCE5}" destId="{9988F6AA-9D1E-4D56-B548-75349B7EDBB7}" srcOrd="0" destOrd="9" presId="urn:microsoft.com/office/officeart/2005/8/layout/vList5"/>
    <dgm:cxn modelId="{69CF5CB6-5486-4508-AA39-F15CF10C3EA0}" srcId="{EBC586A9-14EF-4A96-99EA-3B3E713E86A9}" destId="{01BB72D4-AF75-4C3B-8D6E-B01BC46A1DEB}" srcOrd="2" destOrd="0" parTransId="{4FB6EC23-C9E4-4C25-BCC9-FBF356180D3C}" sibTransId="{20361BF2-A0A9-4D48-92F6-42324C876D51}"/>
    <dgm:cxn modelId="{E63365C2-9758-450D-B37F-9794AEF7AD68}" srcId="{EBC586A9-14EF-4A96-99EA-3B3E713E86A9}" destId="{4A799638-B6CE-437F-96F9-18BE0A0BE404}" srcOrd="0" destOrd="0" parTransId="{E06ACC69-2487-48EA-AE4F-D1F0FC6C08BE}" sibTransId="{983CA65D-C41F-48EB-B087-F67E86B12AFD}"/>
    <dgm:cxn modelId="{AEF0C0C2-E288-484E-9977-B57AFA7E8DFE}" srcId="{01BB72D4-AF75-4C3B-8D6E-B01BC46A1DEB}" destId="{41D961B0-DCDD-42C9-B578-7D85E4215E62}" srcOrd="0" destOrd="0" parTransId="{CD9055E8-2D6C-44EB-85EE-8488BA21DFE4}" sibTransId="{87F4DDAB-B0AC-46F7-A213-CAAF100C3CF8}"/>
    <dgm:cxn modelId="{1E66B5C3-2248-435D-9F06-7AB79699BD42}" srcId="{8CFF7852-357B-4868-97C6-7A6BC3E79DF8}" destId="{EBC586A9-14EF-4A96-99EA-3B3E713E86A9}" srcOrd="0" destOrd="0" parTransId="{29134A23-2F67-44EE-AB91-8D919E1E94EE}" sibTransId="{FCA825E9-B79C-4C95-A992-F52B637A30E1}"/>
    <dgm:cxn modelId="{D11DEFC3-4539-43E4-BD53-67D81D52B739}" type="presOf" srcId="{6BE0FBB5-3102-4A3F-830E-57EBD54821AA}" destId="{9988F6AA-9D1E-4D56-B548-75349B7EDBB7}" srcOrd="0" destOrd="5" presId="urn:microsoft.com/office/officeart/2005/8/layout/vList5"/>
    <dgm:cxn modelId="{F0D37CCF-9B39-4E9C-92C2-AEDCCC8EF13F}" type="presOf" srcId="{01BB72D4-AF75-4C3B-8D6E-B01BC46A1DEB}" destId="{9988F6AA-9D1E-4D56-B548-75349B7EDBB7}" srcOrd="0" destOrd="6" presId="urn:microsoft.com/office/officeart/2005/8/layout/vList5"/>
    <dgm:cxn modelId="{785A42D5-B4F3-47ED-8B59-50B787A6112F}" srcId="{4A799638-B6CE-437F-96F9-18BE0A0BE404}" destId="{1E6D950B-0174-4CAC-837F-BFCD795FF538}" srcOrd="0" destOrd="0" parTransId="{81A9322B-1412-42D1-98FE-C915B4B2E1CF}" sibTransId="{B36E86E6-DF78-4967-BC62-A461E9043035}"/>
    <dgm:cxn modelId="{BE7C81E0-C6B2-465F-A820-945A7979314A}" srcId="{4DF3D327-3D67-4F4C-AD4A-EE809C33219F}" destId="{4EF4A459-2503-4331-B123-E59A5AE1AA1A}" srcOrd="1" destOrd="0" parTransId="{0D176485-B491-46C7-9BEE-770D7E71D218}" sibTransId="{442163E4-E608-42E8-998B-C7BD8AA4BEE1}"/>
    <dgm:cxn modelId="{F4DF6AF0-E670-41BE-B3A8-1923CC025A9C}" srcId="{EBC586A9-14EF-4A96-99EA-3B3E713E86A9}" destId="{C6894FB9-0257-4294-91CB-DE916E1DE890}" srcOrd="5" destOrd="0" parTransId="{DEEC4C1B-EFAB-4F76-A1B3-A50424A766DB}" sibTransId="{A2A36773-8BE1-44EB-A058-0351C5751A4F}"/>
    <dgm:cxn modelId="{83BB6FF3-BC30-4EFD-9410-624772268D18}" srcId="{01BB72D4-AF75-4C3B-8D6E-B01BC46A1DEB}" destId="{E1586ABA-26A3-44DE-950A-04B6F6CEBEDA}" srcOrd="1" destOrd="0" parTransId="{30949611-D8E3-4629-B314-A5BD5AA7F2C2}" sibTransId="{4BD52564-D1D5-41BA-A17E-6846FFFBFCD1}"/>
    <dgm:cxn modelId="{51C2C4F6-11BD-4D83-B380-8E0AE8972D0B}" srcId="{E461B4C1-5471-424D-825A-96B07F14FCE5}" destId="{7E2E640F-FF30-4252-93C9-C57A47AB87B8}" srcOrd="1" destOrd="0" parTransId="{E4F57C24-D5E3-458E-8869-B70EF7701EB0}" sibTransId="{A4AEC44F-5996-4DD4-94CA-D05A59404E4C}"/>
    <dgm:cxn modelId="{F637E06B-ABF5-4F5D-9982-20BB94560296}" type="presParOf" srcId="{551E0E6B-4B82-46B3-90D6-9AE30326A84C}" destId="{37933876-3FA6-4A53-8C77-58308C61AAFB}" srcOrd="0" destOrd="0" presId="urn:microsoft.com/office/officeart/2005/8/layout/vList5"/>
    <dgm:cxn modelId="{077AFA6B-D039-41AC-8542-B8812695E99F}" type="presParOf" srcId="{37933876-3FA6-4A53-8C77-58308C61AAFB}" destId="{B8476B79-385C-4FFC-BF50-D6C3FEFF526D}" srcOrd="0" destOrd="0" presId="urn:microsoft.com/office/officeart/2005/8/layout/vList5"/>
    <dgm:cxn modelId="{49AD4067-BB31-4FE9-9352-146701ACE82F}" type="presParOf" srcId="{37933876-3FA6-4A53-8C77-58308C61AAFB}" destId="{9988F6AA-9D1E-4D56-B548-75349B7EDBB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F57DA-EE09-46BD-9743-BD5450B1BFAE}">
      <dsp:nvSpPr>
        <dsp:cNvPr id="0" name=""/>
        <dsp:cNvSpPr/>
      </dsp:nvSpPr>
      <dsp:spPr>
        <a:xfrm>
          <a:off x="0" y="270"/>
          <a:ext cx="11129962" cy="632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05101-0441-4F2D-905D-862CF98982FD}">
      <dsp:nvSpPr>
        <dsp:cNvPr id="0" name=""/>
        <dsp:cNvSpPr/>
      </dsp:nvSpPr>
      <dsp:spPr>
        <a:xfrm>
          <a:off x="191478" y="142692"/>
          <a:ext cx="348142" cy="3481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404A9-9151-45F9-9DE1-56AAB5B8219E}">
      <dsp:nvSpPr>
        <dsp:cNvPr id="0" name=""/>
        <dsp:cNvSpPr/>
      </dsp:nvSpPr>
      <dsp:spPr>
        <a:xfrm>
          <a:off x="731098" y="270"/>
          <a:ext cx="10398863" cy="63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91" tIns="66991" rIns="66991" bIns="669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Identify Key Churn Drivers: </a:t>
          </a:r>
          <a:r>
            <a:rPr lang="en-US" sz="1800" kern="1200"/>
            <a:t>Uncover the specific pain points—such as contract types, high monthly charges, or lack of technical support—that lead customers to leave.</a:t>
          </a:r>
        </a:p>
      </dsp:txBody>
      <dsp:txXfrm>
        <a:off x="731098" y="270"/>
        <a:ext cx="10398863" cy="632985"/>
      </dsp:txXfrm>
    </dsp:sp>
    <dsp:sp modelId="{C543813B-EE39-4272-BCD9-FEBCDC5568B1}">
      <dsp:nvSpPr>
        <dsp:cNvPr id="0" name=""/>
        <dsp:cNvSpPr/>
      </dsp:nvSpPr>
      <dsp:spPr>
        <a:xfrm>
          <a:off x="0" y="791502"/>
          <a:ext cx="11129962" cy="632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73DA4-3382-41BC-BFC5-635B0E93514C}">
      <dsp:nvSpPr>
        <dsp:cNvPr id="0" name=""/>
        <dsp:cNvSpPr/>
      </dsp:nvSpPr>
      <dsp:spPr>
        <a:xfrm>
          <a:off x="191478" y="933924"/>
          <a:ext cx="348142" cy="3481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FA8EB-0E75-4CFD-B718-244CF2F11D12}">
      <dsp:nvSpPr>
        <dsp:cNvPr id="0" name=""/>
        <dsp:cNvSpPr/>
      </dsp:nvSpPr>
      <dsp:spPr>
        <a:xfrm>
          <a:off x="731098" y="791502"/>
          <a:ext cx="10398863" cy="63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91" tIns="66991" rIns="66991" bIns="669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Predictive Risk Modeling: </a:t>
          </a:r>
          <a:r>
            <a:rPr lang="en-US" sz="1800" kern="1200"/>
            <a:t>Develop a machine learning framework to assign a Churn Probability Score to every customer, allowing for early intervention before a cancellation occurs.</a:t>
          </a:r>
        </a:p>
      </dsp:txBody>
      <dsp:txXfrm>
        <a:off x="731098" y="791502"/>
        <a:ext cx="10398863" cy="632985"/>
      </dsp:txXfrm>
    </dsp:sp>
    <dsp:sp modelId="{5E5D324A-465A-48F7-928A-C03524CB2513}">
      <dsp:nvSpPr>
        <dsp:cNvPr id="0" name=""/>
        <dsp:cNvSpPr/>
      </dsp:nvSpPr>
      <dsp:spPr>
        <a:xfrm>
          <a:off x="0" y="1582734"/>
          <a:ext cx="11129962" cy="632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4FAAE-3D2B-40A0-9933-A8DB3CC201F2}">
      <dsp:nvSpPr>
        <dsp:cNvPr id="0" name=""/>
        <dsp:cNvSpPr/>
      </dsp:nvSpPr>
      <dsp:spPr>
        <a:xfrm>
          <a:off x="191478" y="1725156"/>
          <a:ext cx="348142" cy="3481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4B358-B494-4897-8C0A-6E8C9C21D4B2}">
      <dsp:nvSpPr>
        <dsp:cNvPr id="0" name=""/>
        <dsp:cNvSpPr/>
      </dsp:nvSpPr>
      <dsp:spPr>
        <a:xfrm>
          <a:off x="731098" y="1582734"/>
          <a:ext cx="10398863" cy="632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91" tIns="66991" rIns="66991" bIns="669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Data-Driven Retention: </a:t>
          </a:r>
          <a:r>
            <a:rPr lang="en-US" sz="1800" kern="1200"/>
            <a:t>Recommend targeted business strategies (e.g., loyalty incentives for high-risk segments) to improve customer lifetime value (CLV).</a:t>
          </a:r>
        </a:p>
      </dsp:txBody>
      <dsp:txXfrm>
        <a:off x="731098" y="1582734"/>
        <a:ext cx="10398863" cy="632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8F6AA-9D1E-4D56-B548-75349B7EDBB7}">
      <dsp:nvSpPr>
        <dsp:cNvPr id="0" name=""/>
        <dsp:cNvSpPr/>
      </dsp:nvSpPr>
      <dsp:spPr>
        <a:xfrm rot="5400000">
          <a:off x="4620299" y="-71343"/>
          <a:ext cx="7377529" cy="776477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Problem Definition: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Identifying high churn (26.5%) as the primary threat to revenue.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Defining the goal: Predicting individual churn probability to enable proactive retention.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Data Collection: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Sourcing the </a:t>
          </a: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IBM Telco "Gold Standard"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dataset.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>
              <a:latin typeface="Arial" panose="020B0604020202020204" pitchFamily="34" charset="0"/>
              <a:cs typeface="Arial" panose="020B0604020202020204" pitchFamily="34" charset="0"/>
            </a:rPr>
            <a:t>Integrating 21 features spanning demographics, account info, and services.</a:t>
          </a:r>
          <a:endParaRPr lang="en-US" sz="1300" kern="120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Data Cleaning: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The Critical Fix: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Converting Total Charges from string to numeric.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>
              <a:latin typeface="Arial" panose="020B0604020202020204" pitchFamily="34" charset="0"/>
              <a:cs typeface="Arial" panose="020B0604020202020204" pitchFamily="34" charset="0"/>
            </a:rPr>
            <a:t>Handling null values (11 rows) and encoding categorical text (e.g., "Yes/No" to 1/0).</a:t>
          </a:r>
          <a:endParaRPr lang="en-US" sz="1300" kern="120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Exploratory Data Analysis (EDA):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Univariate: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Analysing the distribution of tenure and monthly charges.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Bivariate: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Comparing Churn vs. Contract Type (Month-to-Month is the highest risk).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Correlation: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Mapping the relationship between service types and attrition.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Modelling: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Splitting data into training/testing sets.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Applying algorithms (e.g., Logistic Regression or Random Forest) to predict the Churn flag.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Insights &amp; Decision: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Translating model coefficients into business strategy.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778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 dirty="0">
              <a:latin typeface="Arial" panose="020B0604020202020204" pitchFamily="34" charset="0"/>
              <a:cs typeface="Arial" panose="020B0604020202020204" pitchFamily="34" charset="0"/>
            </a:rPr>
            <a:t>Decision:</a:t>
          </a:r>
          <a:r>
            <a:rPr lang="en-IN" sz="1300" kern="1200" dirty="0">
              <a:latin typeface="Arial" panose="020B0604020202020204" pitchFamily="34" charset="0"/>
              <a:cs typeface="Arial" panose="020B0604020202020204" pitchFamily="34" charset="0"/>
            </a:rPr>
            <a:t> Recommending "Contract Upgrades" and "Tech Support Bundles" for high-risk Fiber Optic users.</a:t>
          </a:r>
          <a:endParaRPr lang="en-US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4426675" y="482423"/>
        <a:ext cx="7404638" cy="6657247"/>
      </dsp:txXfrm>
    </dsp:sp>
    <dsp:sp modelId="{B8476B79-385C-4FFC-BF50-D6C3FEFF526D}">
      <dsp:nvSpPr>
        <dsp:cNvPr id="0" name=""/>
        <dsp:cNvSpPr/>
      </dsp:nvSpPr>
      <dsp:spPr>
        <a:xfrm>
          <a:off x="0" y="0"/>
          <a:ext cx="4426128" cy="76146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97155" rIns="194310" bIns="9715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100" b="1" kern="1200"/>
            <a:t>The 6-Stage Methodology</a:t>
          </a:r>
          <a:endParaRPr lang="en-US" sz="5100" kern="1200"/>
        </a:p>
      </dsp:txBody>
      <dsp:txXfrm>
        <a:off x="216066" y="216066"/>
        <a:ext cx="3993996" cy="7182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008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6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17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94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6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1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409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775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038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811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2689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40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199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437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123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6034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9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4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diagramDrawing" Target="../diagrams/drawing1.xml"/><Relationship Id="rId5" Type="http://schemas.openxmlformats.org/officeDocument/2006/relationships/image" Target="../media/image12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1.png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952500" y="408310"/>
            <a:ext cx="108013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Predictive Analytics for Customer Churn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29175" y="2559941"/>
            <a:ext cx="10287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Analytics Project Using Python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4298059"/>
            <a:ext cx="10287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Name: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NAMAN SINGH CHAUHAN	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52500" y="4944219"/>
            <a:ext cx="10287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Roll No: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2501921570082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9300"/>
            <a:ext cx="53340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19300"/>
            <a:ext cx="53340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DEFINING CUSTOMER CHURN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93395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"Acquiring a new customer is 5 to 25 times more expensive than retaining an existing one." — Harvard Business Review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4933950"/>
            <a:ext cx="38100" cy="60960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2343150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What is Churn?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857500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 churn, or attrition, is the rate at which customers stop doing business with an entity. In the subscription economy, it is the primary metric for tracking long-term viability.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72250" y="2343150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Business Impact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0" y="2857500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Churn is a critical business problem because losing a customer results in lost revenue and increases the pressure on acquisition teams to find new users to maintain growth.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167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accent2"/>
                </a:solidFill>
                <a:latin typeface="+mj-lt"/>
                <a:ea typeface="Inter"/>
                <a:cs typeface="Inter"/>
                <a:sym typeface="Inter"/>
              </a:rPr>
              <a:t>MARKET CONTEXT &amp; EXAMPLES</a:t>
            </a:r>
            <a:endParaRPr sz="18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1827084"/>
            <a:ext cx="5600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F172A"/>
                </a:solidFill>
                <a:latin typeface="+mj-lt"/>
                <a:ea typeface="Inter"/>
                <a:cs typeface="Inter"/>
                <a:sym typeface="Inter"/>
              </a:rPr>
              <a:t>Industries at Risk</a:t>
            </a:r>
            <a:endParaRPr sz="2000" dirty="0">
              <a:latin typeface="+mj-l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200417"/>
            <a:ext cx="5334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+mj-lt"/>
                <a:ea typeface="Inter"/>
                <a:cs typeface="Inter"/>
                <a:sym typeface="Inter"/>
              </a:rPr>
              <a:t>High-frequency transaction industries are most affected:</a:t>
            </a:r>
            <a:endParaRPr sz="1600" dirty="0">
              <a:latin typeface="+mj-lt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6333" y="1758552"/>
            <a:ext cx="6188926" cy="452794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00125" y="2876550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F172A"/>
                </a:solidFill>
                <a:latin typeface="+mj-lt"/>
                <a:ea typeface="Inter"/>
                <a:cs typeface="Inter"/>
                <a:sym typeface="Inter"/>
              </a:rPr>
              <a:t>Telecom (Airtel/Jio)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j-lt"/>
                <a:ea typeface="Inter"/>
                <a:cs typeface="Inter"/>
                <a:sym typeface="Inter"/>
              </a:rPr>
              <a:t> Switching costs are low; network quality is key.</a:t>
            </a:r>
            <a:endParaRPr sz="1600" dirty="0">
              <a:latin typeface="+mj-lt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3754635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F172A"/>
                </a:solidFill>
                <a:latin typeface="+mj-lt"/>
                <a:ea typeface="Inter"/>
                <a:cs typeface="Inter"/>
                <a:sym typeface="Inter"/>
              </a:rPr>
              <a:t>SaaS &amp; Streaming (Netflix)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j-lt"/>
                <a:ea typeface="Inter"/>
                <a:cs typeface="Inter"/>
                <a:sym typeface="Inter"/>
              </a:rPr>
              <a:t> Content fatigue leads to immediate cancellation.</a:t>
            </a:r>
            <a:endParaRPr sz="1600" dirty="0">
              <a:latin typeface="+mj-l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4632721"/>
            <a:ext cx="4905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F172A"/>
                </a:solidFill>
                <a:latin typeface="+mj-lt"/>
                <a:ea typeface="Inter"/>
                <a:cs typeface="Inter"/>
                <a:sym typeface="Inter"/>
              </a:rPr>
              <a:t>E-commerce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j-lt"/>
                <a:ea typeface="Inter"/>
                <a:cs typeface="Inter"/>
                <a:sym typeface="Inter"/>
              </a:rPr>
              <a:t> Loyalty is often driven by price and delivery speed.</a:t>
            </a:r>
            <a:endParaRPr sz="1600" dirty="0">
              <a:latin typeface="+mj-lt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146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9273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670821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2" y="1573410"/>
            <a:ext cx="5262560" cy="228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THE RESEARCH CHALLENGE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417594" y="1746052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Problem Statement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6858000" y="2260699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Despite a growing user base, the company is seeing a consistent 5% monthly attrition. We need to shift from reactive support to proactive retention using predictive modeling.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1597522"/>
            <a:ext cx="4905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Inter"/>
                <a:cs typeface="Inter"/>
                <a:sym typeface="Inter"/>
              </a:rPr>
              <a:t>Research Question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+mj-lt"/>
                <a:ea typeface="Inter"/>
                <a:cs typeface="Inter"/>
                <a:sym typeface="Inter"/>
              </a:rPr>
              <a:t> Which specific customer segments are most likely to churn in the next 30 days?</a:t>
            </a:r>
            <a:endParaRPr sz="1800" dirty="0">
              <a:latin typeface="+mj-lt"/>
            </a:endParaRPr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7349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" y="335471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F3F4E2-C5BA-8DE8-C5A5-F1DE5B844988}"/>
              </a:ext>
            </a:extLst>
          </p:cNvPr>
          <p:cNvSpPr txBox="1"/>
          <p:nvPr/>
        </p:nvSpPr>
        <p:spPr>
          <a:xfrm>
            <a:off x="609600" y="3289610"/>
            <a:ext cx="4905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Strategic Objectives</a:t>
            </a:r>
          </a:p>
          <a:p>
            <a:endParaRPr lang="en-IN" sz="2000" dirty="0"/>
          </a:p>
        </p:txBody>
      </p:sp>
      <p:graphicFrame>
        <p:nvGraphicFramePr>
          <p:cNvPr id="139" name="Google Shape;135;p16">
            <a:extLst>
              <a:ext uri="{FF2B5EF4-FFF2-40B4-BE49-F238E27FC236}">
                <a16:creationId xmlns:a16="http://schemas.microsoft.com/office/drawing/2014/main" id="{4FF06793-10B2-EB2D-C736-45706AB1D8FE}"/>
              </a:ext>
            </a:extLst>
          </p:cNvPr>
          <p:cNvGraphicFramePr/>
          <p:nvPr/>
        </p:nvGraphicFramePr>
        <p:xfrm>
          <a:off x="609600" y="3945135"/>
          <a:ext cx="11129962" cy="2215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D3FB9-AF50-9DFB-A95D-6E098D54521D}"/>
              </a:ext>
            </a:extLst>
          </p:cNvPr>
          <p:cNvSpPr txBox="1"/>
          <p:nvPr/>
        </p:nvSpPr>
        <p:spPr>
          <a:xfrm>
            <a:off x="441699" y="-183559"/>
            <a:ext cx="5654301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Inter"/>
              </a:rPr>
              <a:t>MEASURING SUCCESS</a:t>
            </a:r>
            <a:endParaRPr lang="en-US" sz="3600" kern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D1F46-FC16-3FE9-7DDB-B176EF3C5CC2}"/>
              </a:ext>
            </a:extLst>
          </p:cNvPr>
          <p:cNvSpPr txBox="1"/>
          <p:nvPr/>
        </p:nvSpPr>
        <p:spPr>
          <a:xfrm>
            <a:off x="221551" y="3312567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Baseline Metrics (The Raw Numbers)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 Customers: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$7,043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Churned Customers: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$1,869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Monthly Charge: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$64.76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Tenure: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$32.4 months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231F2B-918B-15B6-44AA-2D003D96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26896"/>
              </p:ext>
            </p:extLst>
          </p:nvPr>
        </p:nvGraphicFramePr>
        <p:xfrm>
          <a:off x="5987738" y="783937"/>
          <a:ext cx="5628019" cy="5057261"/>
        </p:xfrm>
        <a:graphic>
          <a:graphicData uri="http://schemas.openxmlformats.org/drawingml/2006/table">
            <a:tbl>
              <a:tblPr firstRow="1" firstCol="1" bandRow="1">
                <a:solidFill>
                  <a:schemeClr val="tx1">
                    <a:lumMod val="75000"/>
                    <a:lumOff val="25000"/>
                  </a:schemeClr>
                </a:solidFill>
                <a:tableStyleId>{85908A54-FCDD-4361-8A68-2699B12FEF42}</a:tableStyleId>
              </a:tblPr>
              <a:tblGrid>
                <a:gridCol w="2059290">
                  <a:extLst>
                    <a:ext uri="{9D8B030D-6E8A-4147-A177-3AD203B41FA5}">
                      <a16:colId xmlns:a16="http://schemas.microsoft.com/office/drawing/2014/main" val="3959862448"/>
                    </a:ext>
                  </a:extLst>
                </a:gridCol>
                <a:gridCol w="1174120">
                  <a:extLst>
                    <a:ext uri="{9D8B030D-6E8A-4147-A177-3AD203B41FA5}">
                      <a16:colId xmlns:a16="http://schemas.microsoft.com/office/drawing/2014/main" val="2639542377"/>
                    </a:ext>
                  </a:extLst>
                </a:gridCol>
                <a:gridCol w="2394609">
                  <a:extLst>
                    <a:ext uri="{9D8B030D-6E8A-4147-A177-3AD203B41FA5}">
                      <a16:colId xmlns:a16="http://schemas.microsoft.com/office/drawing/2014/main" val="1370076099"/>
                    </a:ext>
                  </a:extLst>
                </a:gridCol>
              </a:tblGrid>
              <a:tr h="509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effectLst/>
                        </a:rPr>
                        <a:t>KPI</a:t>
                      </a:r>
                      <a:endParaRPr lang="en-IN" sz="1600" b="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  <a:endParaRPr lang="en-IN" sz="1600" b="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effectLst/>
                        </a:rPr>
                        <a:t>Business Interpretation</a:t>
                      </a:r>
                      <a:endParaRPr lang="en-IN" sz="1600" b="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56522"/>
                  </a:ext>
                </a:extLst>
              </a:tr>
              <a:tr h="1345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 dirty="0">
                          <a:solidFill>
                            <a:schemeClr val="bg1"/>
                          </a:solidFill>
                          <a:effectLst/>
                        </a:rPr>
                        <a:t>Overall Churn Rate</a:t>
                      </a:r>
                      <a:endParaRPr lang="en-IN" sz="1600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26.54%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 dirty="0">
                          <a:solidFill>
                            <a:schemeClr val="bg1"/>
                          </a:solidFill>
                          <a:effectLst/>
                        </a:rPr>
                        <a:t>Roughly 1 in 4 customers leave; indicates a high-risk environment.</a:t>
                      </a:r>
                      <a:endParaRPr lang="en-IN" sz="1600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458826"/>
                  </a:ext>
                </a:extLst>
              </a:tr>
              <a:tr h="106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Retention Rate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73.46%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The baseline stability of the existing customer base.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017391"/>
                  </a:ext>
                </a:extLst>
              </a:tr>
              <a:tr h="106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Average CLV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$2,283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The projected total revenue per customer over their lifespan.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17285"/>
                  </a:ext>
                </a:extLst>
              </a:tr>
              <a:tr h="1067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At-Risk MRR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effectLst/>
                        </a:rPr>
                        <a:t>$139,130</a:t>
                      </a:r>
                      <a:endParaRPr lang="en-IN" sz="1600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cap="none" spc="0" dirty="0">
                          <a:solidFill>
                            <a:schemeClr val="bg1"/>
                          </a:solidFill>
                          <a:effectLst/>
                        </a:rPr>
                        <a:t>The Monthly Recurring Revenue lost due to the churned segment.</a:t>
                      </a:r>
                      <a:endParaRPr lang="en-IN" sz="1600" cap="none" spc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34993" marR="77880" marT="103841" marB="10384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710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825C5B-E029-D586-51EF-72F7935C95C9}"/>
              </a:ext>
            </a:extLst>
          </p:cNvPr>
          <p:cNvSpPr txBox="1"/>
          <p:nvPr/>
        </p:nvSpPr>
        <p:spPr>
          <a:xfrm>
            <a:off x="117210" y="1240881"/>
            <a:ext cx="560451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Scope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is based on a static historical snapshot (IBM Telco Dataset) and focuses solely on internal first-party structured data such as billing, services, and demographics, excluding real-time streams, external market factors, and qualitative customer feedback. It emphasizes quantitative analysis of structured variables to generate precise, actionable insights within clearly defined boundaries.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E0D136A4-848E-8600-2A8D-C57CE1117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133971"/>
              </p:ext>
            </p:extLst>
          </p:nvPr>
        </p:nvGraphicFramePr>
        <p:xfrm>
          <a:off x="0" y="-223766"/>
          <a:ext cx="12192000" cy="7622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D2C50-5CEC-34E2-08A7-D42606E9A7A4}"/>
              </a:ext>
            </a:extLst>
          </p:cNvPr>
          <p:cNvSpPr txBox="1"/>
          <p:nvPr/>
        </p:nvSpPr>
        <p:spPr>
          <a:xfrm>
            <a:off x="0" y="0"/>
            <a:ext cx="11971283" cy="752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Five Data Pillars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 Demographics: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Features: Gender,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SeniorCitizen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(Age 65+), Partner, and Dependents.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Utility: Identifies life-stage segments that may have different service priorities (e.g., senior citizens often prioritize tech support).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Usage Behaviour (Services):</a:t>
            </a:r>
            <a:endParaRPr lang="en-IN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Features: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InternetService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(DSL/Fiber),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OnlineSecurity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TechSupport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StreamingTV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and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MultipleLines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Utility: Determines the "stickiness" of the customer. Customers with more integrated services (e.g., Online Backup + Security) are statistically less likely to churn.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Transaction History (Financials):</a:t>
            </a:r>
            <a:endParaRPr lang="en-IN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Features: Tenure (Months with company),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MonthlyCharges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and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TotalCharges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Utility: Highlights the price-sensitivity of customers. Rapidly increasing total charges often precede a cancellation.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Complaint Records (Proxy Data):</a:t>
            </a:r>
            <a:endParaRPr lang="en-IN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Features: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TechSupport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(availability) and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ChurnReason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(in expanded IBM versions).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Utility: Acts as a proxy for customer satisfaction. Lack of access to technical support is a leading indicator of frustration and subsequent attrition.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Payment Patterns:</a:t>
            </a:r>
            <a:endParaRPr lang="en-IN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Features: Contract (Month-to-month vs. Annual),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PaymentMethod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(Electronic Check vs. Automatic), and </a:t>
            </a:r>
            <a:r>
              <a:rPr lang="en-IN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PaperlessBilling</a:t>
            </a: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Utility: Captures the level of commitment. Month-to-month contracts and manual payment methods (Electronic Checks) show the highest correlation with churn.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SOURCING STRATEGY</a:t>
            </a:r>
            <a:endParaRPr dirty="0"/>
          </a:p>
        </p:txBody>
      </p:sp>
      <p:sp>
        <p:nvSpPr>
          <p:cNvPr id="203" name="Google Shape;203;p20"/>
          <p:cNvSpPr/>
          <p:nvPr/>
        </p:nvSpPr>
        <p:spPr>
          <a:xfrm>
            <a:off x="2978356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20"/>
          <p:cNvGraphicFramePr/>
          <p:nvPr>
            <p:extLst>
              <p:ext uri="{D42A27DB-BD31-4B8C-83A1-F6EECF244321}">
                <p14:modId xmlns:p14="http://schemas.microsoft.com/office/powerpoint/2010/main" val="826827716"/>
              </p:ext>
            </p:extLst>
          </p:nvPr>
        </p:nvGraphicFramePr>
        <p:xfrm>
          <a:off x="397966" y="1946976"/>
          <a:ext cx="11049000" cy="2710600"/>
        </p:xfrm>
        <a:graphic>
          <a:graphicData uri="http://schemas.openxmlformats.org/drawingml/2006/table">
            <a:tbl>
              <a:tblPr firstRow="1" bandRow="1">
                <a:noFill/>
                <a:tableStyleId>{85908A54-FCDD-4361-8A68-2699B12FEF42}</a:tableStyleId>
              </a:tblPr>
              <a:tblGrid>
                <a:gridCol w="289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Attributes extracted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CRM 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 Queries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IDs, Contact Info, Tenure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Logs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CSV/Excel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Payment history, Refund records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Web/App Logs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APIs / JSON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 login, Session duration, Clicks,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" name="Google Shape;205;p20"/>
          <p:cNvSpPr/>
          <p:nvPr/>
        </p:nvSpPr>
        <p:spPr>
          <a:xfrm>
            <a:off x="571500" y="3983235"/>
            <a:ext cx="2890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461742" y="3983235"/>
            <a:ext cx="2460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922466" y="3983235"/>
            <a:ext cx="5698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71500" y="4648051"/>
            <a:ext cx="2890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461742" y="4648051"/>
            <a:ext cx="2460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922466" y="4648051"/>
            <a:ext cx="5698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5312866"/>
            <a:ext cx="2890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461742" y="5312866"/>
            <a:ext cx="24607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167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PYTHON TECH STACK</a:t>
            </a:r>
            <a:endParaRPr sz="2000"/>
          </a:p>
        </p:txBody>
      </p:sp>
      <p:sp>
        <p:nvSpPr>
          <p:cNvPr id="221" name="Google Shape;221;p21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06692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4953000" y="1326565"/>
            <a:ext cx="66675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Python Environment: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industry-standard language for its extensive data ecosystem.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Notebook: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 interactive IDE that allows for "Literate Programming"—combining code, math, and visuals.</a:t>
            </a:r>
          </a:p>
        </p:txBody>
      </p:sp>
      <p:sp>
        <p:nvSpPr>
          <p:cNvPr id="225" name="Google Shape;225;p21"/>
          <p:cNvSpPr txBox="1"/>
          <p:nvPr/>
        </p:nvSpPr>
        <p:spPr>
          <a:xfrm>
            <a:off x="5381625" y="3164383"/>
            <a:ext cx="6238875" cy="1822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Pandas/NumPy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  <a:r>
              <a:rPr lang="en-US" sz="1600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Loading the CSV, handling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TotalCharges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string-to-float conversion, and filtering churn segments.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5333999" y="4377808"/>
            <a:ext cx="6238875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Matplotlib/Seaborn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  <a:r>
              <a:rPr lang="en-US" sz="1600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Generating the fundamental plots, such as histograms for tenure and pie charts for churn distribution.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464721" y="5429767"/>
            <a:ext cx="62388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Scikit-Learn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Splitting data, training algorithms, evaluating accuracy and Model training.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05374" y="328162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95535" y="446549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48249" y="5591233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PREPROCESSING PIPELINE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00100" y="1329798"/>
            <a:ext cx="10620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Handling Missing Values: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 identify 11 rows where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TotalCharges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is a blank string.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are converted to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pd.to_numeric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subsequently dropped, as they represent brand-new customers with zero tenure.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000125" y="2998589"/>
            <a:ext cx="10620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De-duplication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Ensuring unique customer IDs across all merged datasets.</a:t>
            </a:r>
            <a:endParaRPr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000125" y="3876675"/>
            <a:ext cx="10620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Standardization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Using </a:t>
            </a:r>
            <a:r>
              <a:rPr lang="en-US" sz="1500" b="0" i="1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Standard Scaler</a:t>
            </a:r>
            <a:r>
              <a:rPr lang="en-US" sz="1500" b="0" i="0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to normalize features for model performance.</a:t>
            </a:r>
            <a:endParaRPr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010635" y="4754760"/>
            <a:ext cx="10620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Outlier Management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</a:p>
          <a:p>
            <a:pPr lvl="0">
              <a:lnSpc>
                <a:spcPct val="160000"/>
              </a:lnSpc>
            </a:pPr>
            <a:r>
              <a:rPr lang="en-US" sz="1500" i="0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Clipping extreme usage values using the Interquartile Range (IQR) method and we are also using boxplot to examine </a:t>
            </a:r>
            <a:r>
              <a:rPr lang="en-US" sz="1500" i="0" u="none" strike="noStrike" cap="none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Monthlycharges</a:t>
            </a:r>
            <a:r>
              <a:rPr lang="en-US" sz="1500" i="0" u="none" strike="noStrike" cap="none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 and Tenure.</a:t>
            </a:r>
            <a:endParaRPr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46314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668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47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928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075793" y="41093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chemeClr val="tx2"/>
                </a:solidFill>
                <a:latin typeface="Inter"/>
                <a:ea typeface="Inter"/>
                <a:cs typeface="Inter"/>
                <a:sym typeface="Inter"/>
              </a:rPr>
              <a:t>EDA: </a:t>
            </a:r>
            <a:r>
              <a:rPr lang="en-IN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Data Analysis (EDA)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748659" y="445449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9B6CC3-560C-EAB6-B994-4D87E889A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1696873"/>
            <a:ext cx="5126422" cy="4424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EA3D57-D4C9-CA53-9E51-DEBCDBDB5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903" y="1765738"/>
            <a:ext cx="7267248" cy="50922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93BB4-97BC-34D7-69A1-337759248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7313"/>
            <a:ext cx="6005327" cy="6030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29D215-25EC-AB6A-F0D6-55A376DB68F4}"/>
              </a:ext>
            </a:extLst>
          </p:cNvPr>
          <p:cNvSpPr txBox="1"/>
          <p:nvPr/>
        </p:nvSpPr>
        <p:spPr>
          <a:xfrm>
            <a:off x="1981200" y="97971"/>
            <a:ext cx="7369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churn indicators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415E2-86A5-E113-76D0-FDBD03E1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576" y="827313"/>
            <a:ext cx="4773920" cy="18107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23BAB-5F37-A659-D53B-3AE3C71A1224}"/>
              </a:ext>
            </a:extLst>
          </p:cNvPr>
          <p:cNvSpPr txBox="1"/>
          <p:nvPr/>
        </p:nvSpPr>
        <p:spPr>
          <a:xfrm>
            <a:off x="262324" y="986981"/>
            <a:ext cx="117514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1️⃣ High Churn Among Low-Engagement Customers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low tenure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 significantly higher churn rates.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Month-to-month contracts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have the highest churn compared to one-year and two-year plans.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without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TechSupport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OnlineSecurity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more likely to leave.</a:t>
            </a: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engagement, short commitment periods, and lack of service add-ons increase churn risk. Early-stage customers require proactive retention strategies.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24D14-46B5-67BF-2FA9-696F8F688B3F}"/>
              </a:ext>
            </a:extLst>
          </p:cNvPr>
          <p:cNvSpPr txBox="1"/>
          <p:nvPr/>
        </p:nvSpPr>
        <p:spPr>
          <a:xfrm>
            <a:off x="4162097" y="2725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6431E-90EF-4857-9640-3867FEED7099}"/>
              </a:ext>
            </a:extLst>
          </p:cNvPr>
          <p:cNvSpPr txBox="1"/>
          <p:nvPr/>
        </p:nvSpPr>
        <p:spPr>
          <a:xfrm>
            <a:off x="220282" y="3209533"/>
            <a:ext cx="117514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2️⃣ Payment Delays Linked to Churn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using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Electronic Check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payment method show higher churn.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Automatic payment methods (bank transfer, credit card) show lower churn rates.</a:t>
            </a: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or inconsistent payment behavior may indicate dissatisfaction or financial friction, increasing the likelihood of churn.</a:t>
            </a:r>
          </a:p>
          <a:p>
            <a:pPr>
              <a:buNone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16E2D-9AC7-3E80-56EA-525A6B67C12E}"/>
              </a:ext>
            </a:extLst>
          </p:cNvPr>
          <p:cNvSpPr txBox="1"/>
          <p:nvPr/>
        </p:nvSpPr>
        <p:spPr>
          <a:xfrm>
            <a:off x="220281" y="5108138"/>
            <a:ext cx="117514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3️⃣ Service Complaints Strongly Correlated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without support services churn more frequently.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Fiber optic users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often show higher churn, possibly due to higher expectations or pricing sensitivity.</a:t>
            </a: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Service quality, technical support availability, and customer experience play a critical role in retention.</a:t>
            </a:r>
          </a:p>
        </p:txBody>
      </p:sp>
    </p:spTree>
    <p:extLst>
      <p:ext uri="{BB962C8B-B14F-4D97-AF65-F5344CB8AC3E}">
        <p14:creationId xmlns:p14="http://schemas.microsoft.com/office/powerpoint/2010/main" val="3037719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571500" y="571500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RETENTION STRATEGY</a:t>
            </a:r>
            <a:endParaRPr/>
          </a:p>
        </p:txBody>
      </p:sp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000125" y="1619250"/>
            <a:ext cx="4524375" cy="9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Targeted Loyalty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discount offers for high-risk segments identified by the model.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000125" y="2802135"/>
            <a:ext cx="4524375" cy="9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Predictive Alerts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Flagging customers to support teams as soon as "Low Engagement" patterns emerge.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000125" y="3985021"/>
            <a:ext cx="4524375" cy="94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Contract Migration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Incentivizing month-to-month users to shift to annual plans.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57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4023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23121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D33D4-2074-25D0-B68C-56D6E3662631}"/>
              </a:ext>
            </a:extLst>
          </p:cNvPr>
          <p:cNvSpPr txBox="1"/>
          <p:nvPr/>
        </p:nvSpPr>
        <p:spPr>
          <a:xfrm>
            <a:off x="183931" y="205568"/>
            <a:ext cx="118241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Impact</a:t>
            </a:r>
          </a:p>
          <a:p>
            <a:pPr algn="ctr">
              <a:buNone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Reducing churn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X%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directly improves revenue stability and lowers customer acquisition costs. Even a small percentage decrease in churn can significantly increase long-term profitability, as retaining existing customers is more cost-effective than acquiring new ones.</a:t>
            </a: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improvement in retention naturally leads to increased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Customer Lifetime Value (CLV)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When customers stay longer, their total contribution through subscription renewals, service upgrades, and add-on purchases grows, strengthening overall financial performance.</a:t>
            </a: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Proactive churn management also enhances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customer satisfaction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By identifying at-risk customers early and addressing service, billing, or engagement issues, organizations build stronger relationships and improve brand trust.</a:t>
            </a: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Together, these outcomes create a sustainable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competitive advantage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Companies that effectively manage retention not only protect revenue but also differentiate themselves through superior customer experience, data-driven decision-making, and long-term strategic stability.</a:t>
            </a:r>
          </a:p>
        </p:txBody>
      </p:sp>
    </p:spTree>
    <p:extLst>
      <p:ext uri="{BB962C8B-B14F-4D97-AF65-F5344CB8AC3E}">
        <p14:creationId xmlns:p14="http://schemas.microsoft.com/office/powerpoint/2010/main" val="165380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EXPECTED ROI &amp; OUTCOMES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571500" y="453866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implementing these Python-driven insights, the organization moves from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descriptive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reporting to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prescriptive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action, gaining a massive competitive edge in market retention.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571500" y="2414587"/>
            <a:ext cx="3683049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CFB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15%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571500" y="3529012"/>
            <a:ext cx="36830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Churn Reduction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254549" y="2414587"/>
            <a:ext cx="3683049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CFB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$2.4M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4254549" y="3529012"/>
            <a:ext cx="36830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Revenue Saved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7937599" y="2414587"/>
            <a:ext cx="3683049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CFB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92%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7937599" y="3529012"/>
            <a:ext cx="368304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Accuracy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00CF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571500" y="221277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71500" y="31956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71500" y="398040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71500" y="3970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571500" y="3970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71500" y="4755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71500" y="4755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1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1666875" y="23556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3njjcbhbojbot.cloudfront.net/api/utilities/v1/imageproxy/https://images.ctfassets.net/wp1lcwdav1p1/WLP03Kh71Uik4M1TNEyis/c85e4cfd5cbabbe5137ed86965d83e04/GettyImages-1199128740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666875" y="2799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www.coursera.org</a:t>
            </a:r>
            <a:endParaRPr/>
          </a:p>
        </p:txBody>
      </p:sp>
      <p:pic>
        <p:nvPicPr>
          <p:cNvPr id="325" name="Google Shape;32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45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1666875" y="33385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https://www.adobe.com/express/learn/blog/media_14ced3f9ddaa47c60d568eecfc387bc6e4b48ca79.png?width=750&amp;format=png&amp;optimize=medium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1666875" y="35842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www.adobe.com</a:t>
            </a:r>
            <a:endParaRPr/>
          </a:p>
        </p:txBody>
      </p:sp>
      <p:pic>
        <p:nvPicPr>
          <p:cNvPr id="328" name="Google Shape;32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9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7"/>
          <p:cNvSpPr txBox="1"/>
          <p:nvPr/>
        </p:nvSpPr>
        <p:spPr>
          <a:xfrm>
            <a:off x="1666875" y="41232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https://www.guvi.in/blog/wp-content/uploads/2023/10/pandas-logo-65337c3d6c2ed-1-1200x675.webp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666875" y="43689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www.guvi.in</a:t>
            </a:r>
            <a:endParaRPr/>
          </a:p>
        </p:txBody>
      </p:sp>
      <p:pic>
        <p:nvPicPr>
          <p:cNvPr id="331" name="Google Shape;331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146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1666875" y="49080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https://kloudportal.com/wp-content/uploads/2025/01/Loyalty-Programs-That-Drive-Sales-and-Build-Brand-Loyalty.jpg.webp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1666875" y="51537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kloudportal.com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186</TotalTime>
  <Words>1705</Words>
  <Application>Microsoft Office PowerPoint</Application>
  <PresentationFormat>Widescreen</PresentationFormat>
  <Paragraphs>163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Wingdings</vt:lpstr>
      <vt:lpstr>Inter</vt:lpstr>
      <vt:lpstr>Tw Cen MT</vt:lpstr>
      <vt:lpstr>Calibri</vt:lpstr>
      <vt:lpstr>Playfair Display</vt:lpstr>
      <vt:lpstr>Inter SemiBold</vt:lpstr>
      <vt:lpstr>Courier New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naman chauhan</cp:lastModifiedBy>
  <cp:revision>2</cp:revision>
  <dcterms:modified xsi:type="dcterms:W3CDTF">2026-02-22T16:10:52Z</dcterms:modified>
</cp:coreProperties>
</file>